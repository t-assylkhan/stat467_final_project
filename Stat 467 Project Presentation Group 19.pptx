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8288000" cy="10287000"/>
  <p:notesSz cx="6858000" cy="9144000"/>
  <p:embeddedFontLst>
    <p:embeddedFont>
      <p:font typeface="Canva Sans Bold" panose="020B0604020202020204" charset="0"/>
      <p:regular r:id="rId50"/>
    </p:embeddedFont>
    <p:embeddedFont>
      <p:font typeface="DM Serif Display" pitchFamily="2" charset="0"/>
      <p:regular r:id="rId51"/>
    </p:embeddedFont>
    <p:embeddedFont>
      <p:font typeface="Open Sauce" panose="020B0604020202020204" charset="0"/>
      <p:regular r:id="rId52"/>
    </p:embeddedFont>
    <p:embeddedFont>
      <p:font typeface="Open Sauce Bold" panose="020B0604020202020204" charset="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82F22-7F68-4B5A-899F-0E5564BCDB34}" type="datetimeFigureOut">
              <a:rPr lang="ru-KZ" smtClean="0"/>
              <a:t>18.01.2026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9784-37A1-4FDB-91AB-2FEB5154DEC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45510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9784-37A1-4FDB-91AB-2FEB5154DEC6}" type="slidenum">
              <a:rPr lang="ru-KZ" smtClean="0"/>
              <a:t>38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59416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tel:1-292-02494-1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krzysztofjamroz/apartment-prices-in-polan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TextBox 3"/>
          <p:cNvSpPr txBox="1"/>
          <p:nvPr/>
        </p:nvSpPr>
        <p:spPr>
          <a:xfrm>
            <a:off x="2107982" y="2064996"/>
            <a:ext cx="14072036" cy="3738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49"/>
              </a:lnSpc>
            </a:pPr>
            <a:r>
              <a:rPr lang="en-US" sz="1074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Analysis of the real estate market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6709574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USING MULTIVARIATE ANALYSIS TECHNIQUES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012123"/>
            <a:ext cx="294534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Presented by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8688070"/>
            <a:ext cx="3450476" cy="110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TAMERLAN ASSYLKHAN</a:t>
            </a:r>
          </a:p>
          <a:p>
            <a:pPr algn="ctr">
              <a:lnSpc>
                <a:spcPts val="2239"/>
              </a:lnSpc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KIRILL KISELEV</a:t>
            </a:r>
          </a:p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ALIKHAN KARIMOV</a:t>
            </a:r>
          </a:p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endParaRPr lang="en-US" sz="1599" spc="159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" b="-3888"/>
            </a:stretch>
          </a:blipFill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grpSp>
        <p:nvGrpSpPr>
          <p:cNvPr id="3" name="Group 3"/>
          <p:cNvGrpSpPr/>
          <p:nvPr/>
        </p:nvGrpSpPr>
        <p:grpSpPr>
          <a:xfrm>
            <a:off x="1038225" y="4348512"/>
            <a:ext cx="4985486" cy="909958"/>
            <a:chOff x="0" y="0"/>
            <a:chExt cx="6647315" cy="1213278"/>
          </a:xfrm>
        </p:grpSpPr>
        <p:sp>
          <p:nvSpPr>
            <p:cNvPr id="4" name="TextBox 4"/>
            <p:cNvSpPr txBox="1"/>
            <p:nvPr/>
          </p:nvSpPr>
          <p:spPr>
            <a:xfrm>
              <a:off x="1793359" y="212516"/>
              <a:ext cx="4853956" cy="673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21,501</a:t>
              </a:r>
              <a:r>
                <a:rPr lang="en-US" sz="2799" u="none" strike="noStrike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observations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1213278" cy="1213278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61957" y="159387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38225" y="6071492"/>
            <a:ext cx="5968920" cy="909958"/>
            <a:chOff x="0" y="0"/>
            <a:chExt cx="7958560" cy="1213278"/>
          </a:xfrm>
        </p:grpSpPr>
        <p:sp>
          <p:nvSpPr>
            <p:cNvPr id="10" name="TextBox 10"/>
            <p:cNvSpPr txBox="1"/>
            <p:nvPr/>
          </p:nvSpPr>
          <p:spPr>
            <a:xfrm>
              <a:off x="1793359" y="212516"/>
              <a:ext cx="6165201" cy="673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12</a:t>
              </a:r>
              <a:r>
                <a:rPr lang="en-US" sz="2799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continuous variables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0" y="0"/>
              <a:ext cx="1213278" cy="1213278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1957" y="159387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38225" y="8006881"/>
            <a:ext cx="4860605" cy="909958"/>
            <a:chOff x="0" y="0"/>
            <a:chExt cx="6480807" cy="1213278"/>
          </a:xfrm>
        </p:grpSpPr>
        <p:sp>
          <p:nvSpPr>
            <p:cNvPr id="16" name="TextBox 16"/>
            <p:cNvSpPr txBox="1"/>
            <p:nvPr/>
          </p:nvSpPr>
          <p:spPr>
            <a:xfrm>
              <a:off x="1793359" y="212516"/>
              <a:ext cx="4687448" cy="673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5</a:t>
              </a:r>
              <a:r>
                <a:rPr lang="en-US" sz="2799" u="none" strike="noStrike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discrete variables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0" y="0"/>
              <a:ext cx="1213278" cy="1213278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87357" y="159387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1452231"/>
            <a:ext cx="708529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Why this dataset?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028700" y="10668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grpSp>
        <p:nvGrpSpPr>
          <p:cNvPr id="23" name="Group 23"/>
          <p:cNvGrpSpPr/>
          <p:nvPr/>
        </p:nvGrpSpPr>
        <p:grpSpPr>
          <a:xfrm>
            <a:off x="9144000" y="4224369"/>
            <a:ext cx="5672329" cy="909958"/>
            <a:chOff x="0" y="0"/>
            <a:chExt cx="7563105" cy="1213278"/>
          </a:xfrm>
        </p:grpSpPr>
        <p:sp>
          <p:nvSpPr>
            <p:cNvPr id="24" name="TextBox 24"/>
            <p:cNvSpPr txBox="1"/>
            <p:nvPr/>
          </p:nvSpPr>
          <p:spPr>
            <a:xfrm>
              <a:off x="1793359" y="212516"/>
              <a:ext cx="5769746" cy="673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10 categorical variables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0" y="0"/>
              <a:ext cx="1213278" cy="1213278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61957" y="159387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 dirty="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4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144000" y="5911473"/>
            <a:ext cx="5968920" cy="981710"/>
            <a:chOff x="0" y="0"/>
            <a:chExt cx="7958560" cy="1308947"/>
          </a:xfrm>
        </p:grpSpPr>
        <p:sp>
          <p:nvSpPr>
            <p:cNvPr id="30" name="TextBox 30"/>
            <p:cNvSpPr txBox="1"/>
            <p:nvPr/>
          </p:nvSpPr>
          <p:spPr>
            <a:xfrm>
              <a:off x="1793359" y="-114300"/>
              <a:ext cx="6165201" cy="1423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Natural grouping variables (city, type) for MANOVA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0" y="47834"/>
              <a:ext cx="1213278" cy="1213278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61957" y="207222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5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144000" y="7846862"/>
            <a:ext cx="7233335" cy="981710"/>
            <a:chOff x="0" y="0"/>
            <a:chExt cx="9644446" cy="1308947"/>
          </a:xfrm>
        </p:grpSpPr>
        <p:sp>
          <p:nvSpPr>
            <p:cNvPr id="36" name="TextBox 36"/>
            <p:cNvSpPr txBox="1"/>
            <p:nvPr/>
          </p:nvSpPr>
          <p:spPr>
            <a:xfrm>
              <a:off x="1793359" y="-114300"/>
              <a:ext cx="7851087" cy="1423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</a:t>
              </a:r>
              <a:r>
                <a:rPr lang="en-US" sz="2799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ich feature set for PCA, Factor Analysis and other methods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0" y="47834"/>
              <a:ext cx="1213278" cy="1213278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87357" y="207222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903168" y="551668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903168" y="2517454"/>
          <a:ext cx="9387431" cy="5687746"/>
        </p:xfrm>
        <a:graphic>
          <a:graphicData uri="http://schemas.openxmlformats.org/drawingml/2006/table">
            <a:tbl>
              <a:tblPr/>
              <a:tblGrid>
                <a:gridCol w="2837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2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171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Variable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Count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Examples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1402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Continuous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squareMeters, price, centreDistance, schoolDistance, clinicDistance, pharmacyDistance, etc.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95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Discrete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rooms, floor, floorCount, buildYear, poiCount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8679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Categorical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city (15 cities), type (3 types), ownership, condition, amenities (5 binary)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903168" y="906548"/>
            <a:ext cx="10399168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Variable Description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02335" y="1154198"/>
            <a:ext cx="6985665" cy="837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Key variable groups: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08323" y="2136454"/>
            <a:ext cx="6879677" cy="2787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4343" lvl="1" indent="-332171" algn="l">
              <a:lnSpc>
                <a:spcPts val="7692"/>
              </a:lnSpc>
              <a:buFont typeface="Arial"/>
              <a:buChar char="•"/>
            </a:pPr>
            <a:r>
              <a:rPr lang="en-US" sz="307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Property Features</a:t>
            </a:r>
            <a:r>
              <a:rPr lang="en-US" sz="307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squareMeters, rooms, floor, floorCount, buildYear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08323" y="6853550"/>
            <a:ext cx="6879677" cy="1816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4343" lvl="1" indent="-332171" algn="l">
              <a:lnSpc>
                <a:spcPts val="7692"/>
              </a:lnSpc>
              <a:buFont typeface="Arial"/>
              <a:buChar char="•"/>
            </a:pPr>
            <a:r>
              <a:rPr lang="en-US" sz="307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Amenities</a:t>
            </a:r>
            <a:r>
              <a:rPr lang="en-US" sz="307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hasParkingSpace, hasBalcony, hasElevator, etc.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08323" y="4980327"/>
            <a:ext cx="6879677" cy="1816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4343" lvl="1" indent="-332171" algn="l">
              <a:lnSpc>
                <a:spcPts val="7692"/>
              </a:lnSpc>
              <a:buFont typeface="Arial"/>
              <a:buChar char="•"/>
            </a:pPr>
            <a:r>
              <a:rPr lang="en-US" sz="307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Location/Accessibility</a:t>
            </a:r>
            <a:r>
              <a:rPr lang="en-US" sz="307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8 distance variables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08323" y="8726774"/>
            <a:ext cx="6879677" cy="844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4343" lvl="1" indent="-332171" algn="l">
              <a:lnSpc>
                <a:spcPts val="7692"/>
              </a:lnSpc>
              <a:buFont typeface="Arial"/>
              <a:buChar char="•"/>
            </a:pPr>
            <a:r>
              <a:rPr lang="en-US" sz="307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Target</a:t>
            </a:r>
            <a:r>
              <a:rPr lang="en-US" sz="307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price (PLN)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423578" y="532948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Freeform 4"/>
          <p:cNvSpPr/>
          <p:nvPr/>
        </p:nvSpPr>
        <p:spPr>
          <a:xfrm>
            <a:off x="423578" y="2143423"/>
            <a:ext cx="11559417" cy="7682178"/>
          </a:xfrm>
          <a:custGeom>
            <a:avLst/>
            <a:gdLst/>
            <a:ahLst/>
            <a:cxnLst/>
            <a:rect l="l" t="t" r="r" b="b"/>
            <a:pathLst>
              <a:path w="11559417" h="7682178">
                <a:moveTo>
                  <a:pt x="0" y="0"/>
                </a:moveTo>
                <a:lnTo>
                  <a:pt x="11559417" y="0"/>
                </a:lnTo>
                <a:lnTo>
                  <a:pt x="11559417" y="7682178"/>
                </a:lnTo>
                <a:lnTo>
                  <a:pt x="0" y="7682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14"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5" name="TextBox 5"/>
          <p:cNvSpPr txBox="1"/>
          <p:nvPr/>
        </p:nvSpPr>
        <p:spPr>
          <a:xfrm>
            <a:off x="423578" y="685574"/>
            <a:ext cx="11920822" cy="1106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How we handled missing values?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82995" y="3378472"/>
            <a:ext cx="6147729" cy="126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51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</a:t>
            </a: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inuous variables → Median imputation (robust to outliers)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82995" y="5261882"/>
            <a:ext cx="6147729" cy="126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5179"/>
              </a:lnSpc>
              <a:buFont typeface="Arial"/>
              <a:buChar char="•"/>
            </a:pP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Categorical variables → Assigned "unknown" category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82995" y="7145292"/>
            <a:ext cx="6147729" cy="126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5179"/>
              </a:lnSpc>
              <a:buFont typeface="Arial"/>
              <a:buChar char="•"/>
            </a:pP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 rows were removed (preserved sample size)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Freeform 3"/>
          <p:cNvSpPr/>
          <p:nvPr/>
        </p:nvSpPr>
        <p:spPr>
          <a:xfrm>
            <a:off x="1046545" y="2767526"/>
            <a:ext cx="16212755" cy="3814625"/>
          </a:xfrm>
          <a:custGeom>
            <a:avLst/>
            <a:gdLst/>
            <a:ahLst/>
            <a:cxnLst/>
            <a:rect l="l" t="t" r="r" b="b"/>
            <a:pathLst>
              <a:path w="16212755" h="3814625">
                <a:moveTo>
                  <a:pt x="0" y="0"/>
                </a:moveTo>
                <a:lnTo>
                  <a:pt x="16212755" y="0"/>
                </a:lnTo>
                <a:lnTo>
                  <a:pt x="16212755" y="3814625"/>
                </a:lnTo>
                <a:lnTo>
                  <a:pt x="0" y="3814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3" t="-19472" b="-19588"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4" name="TextBox 4"/>
          <p:cNvSpPr txBox="1"/>
          <p:nvPr/>
        </p:nvSpPr>
        <p:spPr>
          <a:xfrm>
            <a:off x="3283839" y="866775"/>
            <a:ext cx="11720322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Key Statistics Summary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77434" y="7149606"/>
            <a:ext cx="3242965" cy="688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Insights: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6101" y="8406035"/>
            <a:ext cx="5658059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Right-skewed pr</a:t>
            </a:r>
            <a:r>
              <a:rPr lang="en-US" sz="2799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ice distribution (mean &gt; median)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97532" y="8406035"/>
            <a:ext cx="5236587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Typical apartment: ~53 m², 3 rooms, built in 1993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17491" y="8406035"/>
            <a:ext cx="5470509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Wide range of build years (1850-2024)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Freeform 3"/>
          <p:cNvSpPr/>
          <p:nvPr/>
        </p:nvSpPr>
        <p:spPr>
          <a:xfrm>
            <a:off x="334588" y="2566636"/>
            <a:ext cx="8809412" cy="5814212"/>
          </a:xfrm>
          <a:custGeom>
            <a:avLst/>
            <a:gdLst/>
            <a:ahLst/>
            <a:cxnLst/>
            <a:rect l="l" t="t" r="r" b="b"/>
            <a:pathLst>
              <a:path w="8809412" h="5814212">
                <a:moveTo>
                  <a:pt x="0" y="0"/>
                </a:moveTo>
                <a:lnTo>
                  <a:pt x="8809412" y="0"/>
                </a:lnTo>
                <a:lnTo>
                  <a:pt x="8809412" y="5814212"/>
                </a:lnTo>
                <a:lnTo>
                  <a:pt x="0" y="5814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4" name="Freeform 4"/>
          <p:cNvSpPr/>
          <p:nvPr/>
        </p:nvSpPr>
        <p:spPr>
          <a:xfrm>
            <a:off x="9478588" y="2566636"/>
            <a:ext cx="8809412" cy="5814212"/>
          </a:xfrm>
          <a:custGeom>
            <a:avLst/>
            <a:gdLst/>
            <a:ahLst/>
            <a:cxnLst/>
            <a:rect l="l" t="t" r="r" b="b"/>
            <a:pathLst>
              <a:path w="8809412" h="5814212">
                <a:moveTo>
                  <a:pt x="0" y="0"/>
                </a:moveTo>
                <a:lnTo>
                  <a:pt x="8809412" y="0"/>
                </a:lnTo>
                <a:lnTo>
                  <a:pt x="8809412" y="5814212"/>
                </a:lnTo>
                <a:lnTo>
                  <a:pt x="0" y="5814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5" name="TextBox 5"/>
          <p:cNvSpPr txBox="1"/>
          <p:nvPr/>
        </p:nvSpPr>
        <p:spPr>
          <a:xfrm>
            <a:off x="4485814" y="400590"/>
            <a:ext cx="9316373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Price Distribution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Freeform 3"/>
          <p:cNvSpPr/>
          <p:nvPr/>
        </p:nvSpPr>
        <p:spPr>
          <a:xfrm>
            <a:off x="467289" y="2624146"/>
            <a:ext cx="13162180" cy="6517548"/>
          </a:xfrm>
          <a:custGeom>
            <a:avLst/>
            <a:gdLst/>
            <a:ahLst/>
            <a:cxnLst/>
            <a:rect l="l" t="t" r="r" b="b"/>
            <a:pathLst>
              <a:path w="13162180" h="6517548">
                <a:moveTo>
                  <a:pt x="0" y="0"/>
                </a:moveTo>
                <a:lnTo>
                  <a:pt x="13162180" y="0"/>
                </a:lnTo>
                <a:lnTo>
                  <a:pt x="13162180" y="6517548"/>
                </a:lnTo>
                <a:lnTo>
                  <a:pt x="0" y="6517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8" t="-496" r="-138"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4" name="TextBox 4"/>
          <p:cNvSpPr txBox="1"/>
          <p:nvPr/>
        </p:nvSpPr>
        <p:spPr>
          <a:xfrm>
            <a:off x="13629469" y="2490796"/>
            <a:ext cx="3629831" cy="3148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2030" lvl="1" indent="-331015" algn="l">
              <a:lnSpc>
                <a:spcPts val="5059"/>
              </a:lnSpc>
              <a:buFont typeface="Arial"/>
              <a:buChar char="•"/>
            </a:pPr>
            <a:r>
              <a:rPr lang="en-US" sz="306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Highest prices: Warszawa, Kraków, Gdańsk, Gdynia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14400"/>
            <a:ext cx="8148956" cy="22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Price Variation by City</a:t>
            </a:r>
          </a:p>
          <a:p>
            <a:pPr algn="l">
              <a:lnSpc>
                <a:spcPts val="8959"/>
              </a:lnSpc>
            </a:pPr>
            <a:endParaRPr lang="en-US" sz="6399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28700" y="747994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Box 7"/>
          <p:cNvSpPr txBox="1"/>
          <p:nvPr/>
        </p:nvSpPr>
        <p:spPr>
          <a:xfrm>
            <a:off x="13629469" y="6141102"/>
            <a:ext cx="3950475" cy="243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4753" lvl="1" indent="-322376" algn="l">
              <a:lnSpc>
                <a:spcPts val="4927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Lowest prices: Radom, Częstochowa, Bydgoszcz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Freeform 3"/>
          <p:cNvSpPr/>
          <p:nvPr/>
        </p:nvSpPr>
        <p:spPr>
          <a:xfrm>
            <a:off x="1028700" y="2320695"/>
            <a:ext cx="12282602" cy="7237346"/>
          </a:xfrm>
          <a:custGeom>
            <a:avLst/>
            <a:gdLst/>
            <a:ahLst/>
            <a:cxnLst/>
            <a:rect l="l" t="t" r="r" b="b"/>
            <a:pathLst>
              <a:path w="12282602" h="7237346">
                <a:moveTo>
                  <a:pt x="0" y="0"/>
                </a:moveTo>
                <a:lnTo>
                  <a:pt x="12282602" y="0"/>
                </a:lnTo>
                <a:lnTo>
                  <a:pt x="12282602" y="7237345"/>
                </a:lnTo>
                <a:lnTo>
                  <a:pt x="0" y="7237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01" b="-701"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4" name="TextBox 4"/>
          <p:cNvSpPr txBox="1"/>
          <p:nvPr/>
        </p:nvSpPr>
        <p:spPr>
          <a:xfrm>
            <a:off x="13311541" y="2894965"/>
            <a:ext cx="4872436" cy="2981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Price per m² range: 6,700 PLN/m² (Radom) to 17,917 PLN/m² (Warszawa)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14400"/>
            <a:ext cx="8148956" cy="22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Price Variation by City</a:t>
            </a:r>
          </a:p>
          <a:p>
            <a:pPr algn="l">
              <a:lnSpc>
                <a:spcPts val="8959"/>
              </a:lnSpc>
            </a:pPr>
            <a:endParaRPr lang="en-US" sz="6399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28700" y="747994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Box 7"/>
          <p:cNvSpPr txBox="1"/>
          <p:nvPr/>
        </p:nvSpPr>
        <p:spPr>
          <a:xfrm>
            <a:off x="13311541" y="6345214"/>
            <a:ext cx="4976698" cy="221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Clear regional differences → Suitable for MANOVA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Freeform 3"/>
          <p:cNvSpPr/>
          <p:nvPr/>
        </p:nvSpPr>
        <p:spPr>
          <a:xfrm>
            <a:off x="448773" y="2138439"/>
            <a:ext cx="17203132" cy="7762913"/>
          </a:xfrm>
          <a:custGeom>
            <a:avLst/>
            <a:gdLst/>
            <a:ahLst/>
            <a:cxnLst/>
            <a:rect l="l" t="t" r="r" b="b"/>
            <a:pathLst>
              <a:path w="17203132" h="7762913">
                <a:moveTo>
                  <a:pt x="0" y="0"/>
                </a:moveTo>
                <a:lnTo>
                  <a:pt x="17203133" y="0"/>
                </a:lnTo>
                <a:lnTo>
                  <a:pt x="17203133" y="7762913"/>
                </a:lnTo>
                <a:lnTo>
                  <a:pt x="0" y="7762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4" name="TextBox 4"/>
          <p:cNvSpPr txBox="1"/>
          <p:nvPr/>
        </p:nvSpPr>
        <p:spPr>
          <a:xfrm>
            <a:off x="1839908" y="258763"/>
            <a:ext cx="14608184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Correlation 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Freeform 3"/>
          <p:cNvSpPr/>
          <p:nvPr/>
        </p:nvSpPr>
        <p:spPr>
          <a:xfrm>
            <a:off x="0" y="2749455"/>
            <a:ext cx="18288000" cy="5052060"/>
          </a:xfrm>
          <a:custGeom>
            <a:avLst/>
            <a:gdLst/>
            <a:ahLst/>
            <a:cxnLst/>
            <a:rect l="l" t="t" r="r" b="b"/>
            <a:pathLst>
              <a:path w="18288000" h="5052060">
                <a:moveTo>
                  <a:pt x="0" y="0"/>
                </a:moveTo>
                <a:lnTo>
                  <a:pt x="18288000" y="0"/>
                </a:lnTo>
                <a:lnTo>
                  <a:pt x="18288000" y="5052060"/>
                </a:lnTo>
                <a:lnTo>
                  <a:pt x="0" y="5052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4" name="TextBox 4"/>
          <p:cNvSpPr txBox="1"/>
          <p:nvPr/>
        </p:nvSpPr>
        <p:spPr>
          <a:xfrm>
            <a:off x="1832103" y="712791"/>
            <a:ext cx="14623794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Amenities Impact on Price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8325390"/>
            <a:ext cx="13589764" cy="590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95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Storage room associated with older, less expensive buildings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9124950"/>
            <a:ext cx="13589764" cy="590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95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Binary amenity variables can be used for classification/discrimination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Box 3"/>
          <p:cNvSpPr txBox="1"/>
          <p:nvPr/>
        </p:nvSpPr>
        <p:spPr>
          <a:xfrm>
            <a:off x="1166399" y="2780263"/>
            <a:ext cx="16956917" cy="520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69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How well are Polish cities positioned in terms of infrastructure?</a:t>
            </a:r>
          </a:p>
          <a:p>
            <a:pPr marL="604519" lvl="1" indent="-302260" algn="l">
              <a:lnSpc>
                <a:spcPts val="69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How do apartments with amenities differ from those without?</a:t>
            </a:r>
          </a:p>
          <a:p>
            <a:pPr marL="604519" lvl="1" indent="-302260" algn="l">
              <a:lnSpc>
                <a:spcPts val="69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Are</a:t>
            </a: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there natural groupings/segments in the Polish apartment market?</a:t>
            </a:r>
          </a:p>
          <a:p>
            <a:pPr marL="604519" lvl="1" indent="-302260" algn="l">
              <a:lnSpc>
                <a:spcPts val="6999"/>
              </a:lnSpc>
              <a:buFont typeface="Arial"/>
              <a:buChar char="•"/>
            </a:pP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 apartment characteristics (size, price, distances) significantly  differ across Polish cities?</a:t>
            </a:r>
          </a:p>
          <a:p>
            <a:pPr marL="604519" lvl="1" indent="-302260" algn="l">
              <a:lnSpc>
                <a:spcPts val="6999"/>
              </a:lnSpc>
              <a:buFont typeface="Arial"/>
              <a:buChar char="•"/>
            </a:pP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What are the main underlying factors (latent variables) that explain  apartment characteristics?</a:t>
            </a:r>
          </a:p>
          <a:p>
            <a:pPr marL="604519" lvl="1" indent="-302260" algn="l">
              <a:lnSpc>
                <a:spcPts val="6999"/>
              </a:lnSpc>
              <a:buFont typeface="Arial"/>
              <a:buChar char="•"/>
            </a:pP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...and many more!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6399" y="1233825"/>
            <a:ext cx="723931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Research Questions</a:t>
            </a:r>
          </a:p>
        </p:txBody>
      </p:sp>
      <p:sp>
        <p:nvSpPr>
          <p:cNvPr id="5" name="AutoShape 5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grpSp>
        <p:nvGrpSpPr>
          <p:cNvPr id="3" name="Group 3"/>
          <p:cNvGrpSpPr/>
          <p:nvPr/>
        </p:nvGrpSpPr>
        <p:grpSpPr>
          <a:xfrm>
            <a:off x="932248" y="3062769"/>
            <a:ext cx="9699190" cy="909958"/>
            <a:chOff x="0" y="0"/>
            <a:chExt cx="12932253" cy="1213278"/>
          </a:xfrm>
        </p:grpSpPr>
        <p:sp>
          <p:nvSpPr>
            <p:cNvPr id="4" name="TextBox 4"/>
            <p:cNvSpPr txBox="1"/>
            <p:nvPr/>
          </p:nvSpPr>
          <p:spPr>
            <a:xfrm>
              <a:off x="1855086" y="224355"/>
              <a:ext cx="11077167" cy="673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</a:t>
              </a:r>
              <a:r>
                <a:rPr lang="en-US" sz="2799" u="none" strike="noStrike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arsaw apartments only (n = 6,962)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1213278" cy="1213278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6557" y="172087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2248" y="4969993"/>
            <a:ext cx="9699190" cy="981710"/>
            <a:chOff x="0" y="0"/>
            <a:chExt cx="12932253" cy="1308947"/>
          </a:xfrm>
        </p:grpSpPr>
        <p:sp>
          <p:nvSpPr>
            <p:cNvPr id="10" name="TextBox 10"/>
            <p:cNvSpPr txBox="1"/>
            <p:nvPr/>
          </p:nvSpPr>
          <p:spPr>
            <a:xfrm>
              <a:off x="1855086" y="-114300"/>
              <a:ext cx="11077167" cy="1423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Dist</a:t>
              </a:r>
              <a:r>
                <a:rPr lang="en-US" sz="2799" u="none" strike="noStrike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ances to school, clinic, post office, kindergarten, restaurant, college, pharmacy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0" y="35995"/>
              <a:ext cx="1213278" cy="1213278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49257" y="208082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32248" y="6951828"/>
            <a:ext cx="9699190" cy="909958"/>
            <a:chOff x="0" y="0"/>
            <a:chExt cx="12932253" cy="1213278"/>
          </a:xfrm>
        </p:grpSpPr>
        <p:sp>
          <p:nvSpPr>
            <p:cNvPr id="16" name="TextBox 16"/>
            <p:cNvSpPr txBox="1"/>
            <p:nvPr/>
          </p:nvSpPr>
          <p:spPr>
            <a:xfrm>
              <a:off x="1855086" y="224355"/>
              <a:ext cx="11077167" cy="673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H₀:</a:t>
              </a:r>
              <a:r>
                <a:rPr lang="en-US" sz="2799" u="none" strike="noStrike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μ = (1, 1, 1, 1, 1, 1, 1)' km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0" y="0"/>
              <a:ext cx="1213278" cy="1213278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6557" y="172087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32248" y="933450"/>
            <a:ext cx="16967065" cy="96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Are important infrastructural objects close enough?</a:t>
            </a:r>
          </a:p>
        </p:txBody>
      </p:sp>
      <p:sp>
        <p:nvSpPr>
          <p:cNvPr id="22" name="AutoShape 22"/>
          <p:cNvSpPr/>
          <p:nvPr/>
        </p:nvSpPr>
        <p:spPr>
          <a:xfrm>
            <a:off x="932248" y="841379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Box 23"/>
          <p:cNvSpPr txBox="1"/>
          <p:nvPr/>
        </p:nvSpPr>
        <p:spPr>
          <a:xfrm>
            <a:off x="12848804" y="4531843"/>
            <a:ext cx="4545575" cy="3175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9"/>
              </a:lnSpc>
            </a:pPr>
            <a:r>
              <a:rPr lang="en-US" sz="3499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F-statistic : 24641.31</a:t>
            </a:r>
          </a:p>
          <a:p>
            <a:pPr algn="ctr">
              <a:lnSpc>
                <a:spcPts val="8749"/>
              </a:lnSpc>
            </a:pPr>
            <a:r>
              <a:rPr lang="en-US" sz="3499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p-value &lt; 0.001</a:t>
            </a:r>
          </a:p>
          <a:p>
            <a:pPr algn="ctr">
              <a:lnSpc>
                <a:spcPts val="8749"/>
              </a:lnSpc>
            </a:pPr>
            <a:r>
              <a:rPr lang="en-US" sz="3499" u="sng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Reject H₀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32248" y="8861912"/>
            <a:ext cx="9699190" cy="909958"/>
            <a:chOff x="0" y="0"/>
            <a:chExt cx="12932253" cy="1213278"/>
          </a:xfrm>
        </p:grpSpPr>
        <p:sp>
          <p:nvSpPr>
            <p:cNvPr id="25" name="TextBox 25"/>
            <p:cNvSpPr txBox="1"/>
            <p:nvPr/>
          </p:nvSpPr>
          <p:spPr>
            <a:xfrm>
              <a:off x="1855086" y="224355"/>
              <a:ext cx="11077167" cy="673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One-Sample</a:t>
              </a:r>
              <a:r>
                <a:rPr lang="en-US" sz="2799" u="none" strike="noStrike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Hotelling's T² Test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0" y="0"/>
              <a:ext cx="1213278" cy="1213278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6557" y="172087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Freeform 3"/>
          <p:cNvSpPr/>
          <p:nvPr/>
        </p:nvSpPr>
        <p:spPr>
          <a:xfrm>
            <a:off x="334588" y="2236394"/>
            <a:ext cx="8809412" cy="5814212"/>
          </a:xfrm>
          <a:custGeom>
            <a:avLst/>
            <a:gdLst/>
            <a:ahLst/>
            <a:cxnLst/>
            <a:rect l="l" t="t" r="r" b="b"/>
            <a:pathLst>
              <a:path w="8809412" h="5814212">
                <a:moveTo>
                  <a:pt x="0" y="0"/>
                </a:moveTo>
                <a:lnTo>
                  <a:pt x="8809412" y="0"/>
                </a:lnTo>
                <a:lnTo>
                  <a:pt x="8809412" y="5814212"/>
                </a:lnTo>
                <a:lnTo>
                  <a:pt x="0" y="5814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4" name="Freeform 4"/>
          <p:cNvSpPr/>
          <p:nvPr/>
        </p:nvSpPr>
        <p:spPr>
          <a:xfrm>
            <a:off x="9478588" y="2236394"/>
            <a:ext cx="8809412" cy="5814212"/>
          </a:xfrm>
          <a:custGeom>
            <a:avLst/>
            <a:gdLst/>
            <a:ahLst/>
            <a:cxnLst/>
            <a:rect l="l" t="t" r="r" b="b"/>
            <a:pathLst>
              <a:path w="8809412" h="5814212">
                <a:moveTo>
                  <a:pt x="0" y="0"/>
                </a:moveTo>
                <a:lnTo>
                  <a:pt x="8809412" y="0"/>
                </a:lnTo>
                <a:lnTo>
                  <a:pt x="8809412" y="5814212"/>
                </a:lnTo>
                <a:lnTo>
                  <a:pt x="0" y="5814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TextBox 3"/>
          <p:cNvSpPr txBox="1"/>
          <p:nvPr/>
        </p:nvSpPr>
        <p:spPr>
          <a:xfrm>
            <a:off x="2370650" y="3663950"/>
            <a:ext cx="13546699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Are amenities actually that important?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grpSp>
        <p:nvGrpSpPr>
          <p:cNvPr id="3" name="Group 3"/>
          <p:cNvGrpSpPr/>
          <p:nvPr/>
        </p:nvGrpSpPr>
        <p:grpSpPr>
          <a:xfrm>
            <a:off x="1100881" y="2886776"/>
            <a:ext cx="15384329" cy="909958"/>
            <a:chOff x="0" y="0"/>
            <a:chExt cx="20512439" cy="1213278"/>
          </a:xfrm>
        </p:grpSpPr>
        <p:sp>
          <p:nvSpPr>
            <p:cNvPr id="4" name="TextBox 4"/>
            <p:cNvSpPr txBox="1"/>
            <p:nvPr/>
          </p:nvSpPr>
          <p:spPr>
            <a:xfrm>
              <a:off x="1942443" y="212516"/>
              <a:ext cx="18569996" cy="673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Select key variables: squareMeters, price, rooms, floor, floorCount, buildYear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1213278" cy="1213278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61957" y="202991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00881" y="4652645"/>
            <a:ext cx="15384329" cy="981710"/>
            <a:chOff x="0" y="0"/>
            <a:chExt cx="20512439" cy="1308947"/>
          </a:xfrm>
        </p:grpSpPr>
        <p:sp>
          <p:nvSpPr>
            <p:cNvPr id="10" name="TextBox 10"/>
            <p:cNvSpPr txBox="1"/>
            <p:nvPr/>
          </p:nvSpPr>
          <p:spPr>
            <a:xfrm>
              <a:off x="1942443" y="-114300"/>
              <a:ext cx="18569996" cy="1423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Divide data into groups by presense or absenses of amenities (Balcony, Parking Space, Elevator, Security, Storage Room)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957" y="207222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21255"/>
              <a:ext cx="1213278" cy="1213278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1100881" y="6464369"/>
            <a:ext cx="12090606" cy="909958"/>
            <a:chOff x="0" y="0"/>
            <a:chExt cx="16120808" cy="1213278"/>
          </a:xfrm>
        </p:grpSpPr>
        <p:sp>
          <p:nvSpPr>
            <p:cNvPr id="16" name="TextBox 16"/>
            <p:cNvSpPr txBox="1"/>
            <p:nvPr/>
          </p:nvSpPr>
          <p:spPr>
            <a:xfrm>
              <a:off x="1942443" y="168912"/>
              <a:ext cx="14178365" cy="673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Obtaine sample mean vectors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0" y="0"/>
              <a:ext cx="1213278" cy="1213278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87357" y="159387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66399" y="1233825"/>
            <a:ext cx="6616990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Let’s figure it out!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grpSp>
        <p:nvGrpSpPr>
          <p:cNvPr id="23" name="Group 23"/>
          <p:cNvGrpSpPr/>
          <p:nvPr/>
        </p:nvGrpSpPr>
        <p:grpSpPr>
          <a:xfrm>
            <a:off x="1100881" y="8260153"/>
            <a:ext cx="11029122" cy="909958"/>
            <a:chOff x="0" y="0"/>
            <a:chExt cx="14705496" cy="1213278"/>
          </a:xfrm>
        </p:grpSpPr>
        <p:sp>
          <p:nvSpPr>
            <p:cNvPr id="24" name="TextBox 24"/>
            <p:cNvSpPr txBox="1"/>
            <p:nvPr/>
          </p:nvSpPr>
          <p:spPr>
            <a:xfrm>
              <a:off x="1942443" y="201509"/>
              <a:ext cx="12763053" cy="673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Compare groups using Two-sample Hotelling's T² tests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0" y="0"/>
              <a:ext cx="1213278" cy="1213278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61957" y="191984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8360001" y="4720965"/>
          <a:ext cx="9351288" cy="5163073"/>
        </p:xfrm>
        <a:graphic>
          <a:graphicData uri="http://schemas.openxmlformats.org/drawingml/2006/table">
            <a:tbl>
              <a:tblPr/>
              <a:tblGrid>
                <a:gridCol w="3117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1733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Comparison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F-statistic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268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Balcony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313.74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Reject H₀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268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Parking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211.53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Reject H₀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268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Elevator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2510.55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Reject H₀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268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Security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173.25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Reject H₀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0268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Storage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645.86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Reject H₀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12261" y="923925"/>
            <a:ext cx="8247740" cy="1596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Hypotheses: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H₀: μ₁ = μ₂ (mean vectors are equal)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H₁: μ₁ ≠ μ₂ (mean vectors are not equal)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60001" y="923925"/>
            <a:ext cx="9200614" cy="268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Sample mean vectors:</a:t>
            </a:r>
          </a:p>
          <a:p>
            <a:pPr algn="l">
              <a:lnSpc>
                <a:spcPts val="4320"/>
              </a:lnSpc>
            </a:pP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Have balcony: (58.67, 850115.60, 2.71, 3.34, 5.62, 1994.14)' 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 Balcony: (54.56, 786748.11, 2.51, 3.33, 5.24, 1978.72)'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261" y="4616190"/>
            <a:ext cx="6777832" cy="431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Hotelling's T² = 1882.8838</a:t>
            </a:r>
          </a:p>
          <a:p>
            <a:pPr algn="just">
              <a:lnSpc>
                <a:spcPts val="432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sz="27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F-statistic = 313.7410</a:t>
            </a:r>
          </a:p>
          <a:p>
            <a:pPr algn="just">
              <a:lnSpc>
                <a:spcPts val="432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Degrees of freedom: </a:t>
            </a:r>
            <a:r>
              <a:rPr lang="en-US" sz="27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df</a:t>
            </a: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₁ = 6, </a:t>
            </a:r>
            <a:r>
              <a:rPr lang="en-US" sz="27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df</a:t>
            </a: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₂ = 21494</a:t>
            </a:r>
          </a:p>
          <a:p>
            <a:pPr algn="just">
              <a:lnSpc>
                <a:spcPts val="4320"/>
              </a:lnSpc>
              <a:spcBef>
                <a:spcPct val="0"/>
              </a:spcBef>
            </a:pPr>
            <a:endParaRPr lang="en-US" sz="27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432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Critical Values (α = 0.05):</a:t>
            </a:r>
          </a:p>
          <a:p>
            <a:pPr algn="just">
              <a:lnSpc>
                <a:spcPts val="432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F-critical = 2.0990</a:t>
            </a:r>
          </a:p>
          <a:p>
            <a:pPr algn="just">
              <a:lnSpc>
                <a:spcPts val="4320"/>
              </a:lnSpc>
              <a:spcBef>
                <a:spcPct val="0"/>
              </a:spcBef>
            </a:pPr>
            <a:endParaRPr lang="en-US" sz="27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just">
              <a:lnSpc>
                <a:spcPts val="432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sz="27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P-value: 1.110223e-16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w="38100" cap="sq">
            <a:solidFill>
              <a:srgbClr val="5170FF">
                <a:alpha val="49804"/>
              </a:srgbClr>
            </a:solidFill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grpSp>
        <p:nvGrpSpPr>
          <p:cNvPr id="3" name="Group 3"/>
          <p:cNvGrpSpPr/>
          <p:nvPr/>
        </p:nvGrpSpPr>
        <p:grpSpPr>
          <a:xfrm>
            <a:off x="699170" y="2277971"/>
            <a:ext cx="15919604" cy="5731057"/>
            <a:chOff x="0" y="0"/>
            <a:chExt cx="21226138" cy="76414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226138" cy="7641410"/>
            </a:xfrm>
            <a:custGeom>
              <a:avLst/>
              <a:gdLst/>
              <a:ahLst/>
              <a:cxnLst/>
              <a:rect l="l" t="t" r="r" b="b"/>
              <a:pathLst>
                <a:path w="21226138" h="7641410">
                  <a:moveTo>
                    <a:pt x="0" y="0"/>
                  </a:moveTo>
                  <a:lnTo>
                    <a:pt x="21226138" y="0"/>
                  </a:lnTo>
                  <a:lnTo>
                    <a:pt x="21226138" y="7641410"/>
                  </a:lnTo>
                  <a:lnTo>
                    <a:pt x="0" y="7641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ru-KZ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12449764" y="6969035"/>
              <a:ext cx="1611630" cy="613410"/>
              <a:chOff x="0" y="0"/>
              <a:chExt cx="1611630" cy="61341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9756" y="50800"/>
                <a:ext cx="1542690" cy="521379"/>
              </a:xfrm>
              <a:custGeom>
                <a:avLst/>
                <a:gdLst/>
                <a:ahLst/>
                <a:cxnLst/>
                <a:rect l="l" t="t" r="r" b="b"/>
                <a:pathLst>
                  <a:path w="1542690" h="521379">
                    <a:moveTo>
                      <a:pt x="31044" y="0"/>
                    </a:moveTo>
                    <a:cubicBezTo>
                      <a:pt x="455224" y="5080"/>
                      <a:pt x="556824" y="21590"/>
                      <a:pt x="649534" y="25400"/>
                    </a:cubicBezTo>
                    <a:cubicBezTo>
                      <a:pt x="730814" y="29210"/>
                      <a:pt x="803204" y="13970"/>
                      <a:pt x="881944" y="26670"/>
                    </a:cubicBezTo>
                    <a:cubicBezTo>
                      <a:pt x="969574" y="41910"/>
                      <a:pt x="1062284" y="114300"/>
                      <a:pt x="1148644" y="116840"/>
                    </a:cubicBezTo>
                    <a:cubicBezTo>
                      <a:pt x="1228654" y="119380"/>
                      <a:pt x="1311204" y="53340"/>
                      <a:pt x="1381054" y="54610"/>
                    </a:cubicBezTo>
                    <a:cubicBezTo>
                      <a:pt x="1439474" y="55880"/>
                      <a:pt x="1525834" y="63500"/>
                      <a:pt x="1541074" y="104140"/>
                    </a:cubicBezTo>
                    <a:cubicBezTo>
                      <a:pt x="1565204" y="168910"/>
                      <a:pt x="1311204" y="441960"/>
                      <a:pt x="1298504" y="491490"/>
                    </a:cubicBezTo>
                    <a:cubicBezTo>
                      <a:pt x="1294694" y="501650"/>
                      <a:pt x="1304854" y="505460"/>
                      <a:pt x="1298504" y="511810"/>
                    </a:cubicBezTo>
                    <a:cubicBezTo>
                      <a:pt x="1259134" y="549910"/>
                      <a:pt x="587304" y="462280"/>
                      <a:pt x="354894" y="457200"/>
                    </a:cubicBezTo>
                    <a:cubicBezTo>
                      <a:pt x="219004" y="454660"/>
                      <a:pt x="89464" y="519430"/>
                      <a:pt x="31044" y="462280"/>
                    </a:cubicBezTo>
                    <a:cubicBezTo>
                      <a:pt x="-38806" y="392430"/>
                      <a:pt x="31044" y="0"/>
                      <a:pt x="31044" y="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8025084" y="7010945"/>
              <a:ext cx="1507490" cy="563880"/>
              <a:chOff x="0" y="0"/>
              <a:chExt cx="1507490" cy="56388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467" y="45928"/>
                <a:ext cx="1449811" cy="537664"/>
              </a:xfrm>
              <a:custGeom>
                <a:avLst/>
                <a:gdLst/>
                <a:ahLst/>
                <a:cxnLst/>
                <a:rect l="l" t="t" r="r" b="b"/>
                <a:pathLst>
                  <a:path w="1449811" h="537664">
                    <a:moveTo>
                      <a:pt x="42333" y="4872"/>
                    </a:moveTo>
                    <a:cubicBezTo>
                      <a:pt x="1327573" y="25192"/>
                      <a:pt x="1347893" y="44242"/>
                      <a:pt x="1372023" y="62022"/>
                    </a:cubicBezTo>
                    <a:cubicBezTo>
                      <a:pt x="1388533" y="74722"/>
                      <a:pt x="1397423" y="84882"/>
                      <a:pt x="1408853" y="103932"/>
                    </a:cubicBezTo>
                    <a:cubicBezTo>
                      <a:pt x="1424093" y="129332"/>
                      <a:pt x="1441873" y="176322"/>
                      <a:pt x="1446953" y="205532"/>
                    </a:cubicBezTo>
                    <a:cubicBezTo>
                      <a:pt x="1450763" y="227122"/>
                      <a:pt x="1450763" y="239822"/>
                      <a:pt x="1446953" y="261412"/>
                    </a:cubicBezTo>
                    <a:cubicBezTo>
                      <a:pt x="1441873" y="290622"/>
                      <a:pt x="1424093" y="337612"/>
                      <a:pt x="1408853" y="363012"/>
                    </a:cubicBezTo>
                    <a:cubicBezTo>
                      <a:pt x="1397423" y="380792"/>
                      <a:pt x="1388533" y="390952"/>
                      <a:pt x="1372023" y="404922"/>
                    </a:cubicBezTo>
                    <a:cubicBezTo>
                      <a:pt x="1347893" y="422702"/>
                      <a:pt x="1303443" y="446832"/>
                      <a:pt x="1275503" y="455722"/>
                    </a:cubicBezTo>
                    <a:cubicBezTo>
                      <a:pt x="1255183" y="462072"/>
                      <a:pt x="1233593" y="473502"/>
                      <a:pt x="1219623" y="462072"/>
                    </a:cubicBezTo>
                    <a:cubicBezTo>
                      <a:pt x="1181523" y="427782"/>
                      <a:pt x="1181523" y="39162"/>
                      <a:pt x="1219623" y="4872"/>
                    </a:cubicBezTo>
                    <a:cubicBezTo>
                      <a:pt x="1233593" y="-6558"/>
                      <a:pt x="1255183" y="4872"/>
                      <a:pt x="1275503" y="11222"/>
                    </a:cubicBezTo>
                    <a:cubicBezTo>
                      <a:pt x="1303443" y="20112"/>
                      <a:pt x="1347893" y="44242"/>
                      <a:pt x="1372023" y="62022"/>
                    </a:cubicBezTo>
                    <a:cubicBezTo>
                      <a:pt x="1388533" y="74722"/>
                      <a:pt x="1397423" y="84882"/>
                      <a:pt x="1408853" y="103932"/>
                    </a:cubicBezTo>
                    <a:cubicBezTo>
                      <a:pt x="1424093" y="129332"/>
                      <a:pt x="1441873" y="176322"/>
                      <a:pt x="1446953" y="205532"/>
                    </a:cubicBezTo>
                    <a:cubicBezTo>
                      <a:pt x="1450763" y="227122"/>
                      <a:pt x="1450763" y="239822"/>
                      <a:pt x="1446953" y="261412"/>
                    </a:cubicBezTo>
                    <a:cubicBezTo>
                      <a:pt x="1441873" y="290622"/>
                      <a:pt x="1427903" y="333802"/>
                      <a:pt x="1408853" y="363012"/>
                    </a:cubicBezTo>
                    <a:cubicBezTo>
                      <a:pt x="1388533" y="392222"/>
                      <a:pt x="1358053" y="418892"/>
                      <a:pt x="1326303" y="435402"/>
                    </a:cubicBezTo>
                    <a:cubicBezTo>
                      <a:pt x="1294553" y="451912"/>
                      <a:pt x="1275503" y="455722"/>
                      <a:pt x="1220893" y="462072"/>
                    </a:cubicBezTo>
                    <a:cubicBezTo>
                      <a:pt x="1039283" y="484932"/>
                      <a:pt x="193463" y="617012"/>
                      <a:pt x="42333" y="467152"/>
                    </a:cubicBezTo>
                    <a:cubicBezTo>
                      <a:pt x="-52917" y="371902"/>
                      <a:pt x="42333" y="4872"/>
                      <a:pt x="42333" y="4872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8177484" y="6496595"/>
              <a:ext cx="1356360" cy="605790"/>
              <a:chOff x="0" y="0"/>
              <a:chExt cx="1356360" cy="60579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29351" y="49230"/>
                <a:ext cx="1275377" cy="514886"/>
              </a:xfrm>
              <a:custGeom>
                <a:avLst/>
                <a:gdLst/>
                <a:ahLst/>
                <a:cxnLst/>
                <a:rect l="l" t="t" r="r" b="b"/>
                <a:pathLst>
                  <a:path w="1275377" h="514886">
                    <a:moveTo>
                      <a:pt x="21449" y="43480"/>
                    </a:moveTo>
                    <a:cubicBezTo>
                      <a:pt x="501509" y="7920"/>
                      <a:pt x="688199" y="-4780"/>
                      <a:pt x="829169" y="1570"/>
                    </a:cubicBezTo>
                    <a:cubicBezTo>
                      <a:pt x="944739" y="6650"/>
                      <a:pt x="1071739" y="7920"/>
                      <a:pt x="1141589" y="40940"/>
                    </a:cubicBezTo>
                    <a:cubicBezTo>
                      <a:pt x="1184769" y="59990"/>
                      <a:pt x="1211439" y="98090"/>
                      <a:pt x="1231759" y="123490"/>
                    </a:cubicBezTo>
                    <a:cubicBezTo>
                      <a:pt x="1245729" y="140000"/>
                      <a:pt x="1252079" y="151430"/>
                      <a:pt x="1258429" y="171750"/>
                    </a:cubicBezTo>
                    <a:cubicBezTo>
                      <a:pt x="1268589" y="199690"/>
                      <a:pt x="1277479" y="244140"/>
                      <a:pt x="1274939" y="279700"/>
                    </a:cubicBezTo>
                    <a:cubicBezTo>
                      <a:pt x="1271129" y="315260"/>
                      <a:pt x="1257159" y="353360"/>
                      <a:pt x="1238109" y="382570"/>
                    </a:cubicBezTo>
                    <a:cubicBezTo>
                      <a:pt x="1219059" y="411780"/>
                      <a:pt x="1188579" y="439720"/>
                      <a:pt x="1158099" y="457500"/>
                    </a:cubicBezTo>
                    <a:cubicBezTo>
                      <a:pt x="1127619" y="474010"/>
                      <a:pt x="1088249" y="485440"/>
                      <a:pt x="1052689" y="485440"/>
                    </a:cubicBezTo>
                    <a:cubicBezTo>
                      <a:pt x="1017129" y="486710"/>
                      <a:pt x="972679" y="474010"/>
                      <a:pt x="946009" y="462580"/>
                    </a:cubicBezTo>
                    <a:cubicBezTo>
                      <a:pt x="925689" y="453690"/>
                      <a:pt x="912989" y="443530"/>
                      <a:pt x="899019" y="432100"/>
                    </a:cubicBezTo>
                    <a:cubicBezTo>
                      <a:pt x="886319" y="420670"/>
                      <a:pt x="858379" y="396540"/>
                      <a:pt x="862189" y="391460"/>
                    </a:cubicBezTo>
                    <a:cubicBezTo>
                      <a:pt x="869809" y="380030"/>
                      <a:pt x="1078089" y="508300"/>
                      <a:pt x="1111109" y="476550"/>
                    </a:cubicBezTo>
                    <a:cubicBezTo>
                      <a:pt x="1154289" y="434640"/>
                      <a:pt x="939659" y="80310"/>
                      <a:pt x="982839" y="38400"/>
                    </a:cubicBezTo>
                    <a:cubicBezTo>
                      <a:pt x="1015859" y="6650"/>
                      <a:pt x="1192389" y="90470"/>
                      <a:pt x="1231759" y="123490"/>
                    </a:cubicBezTo>
                    <a:cubicBezTo>
                      <a:pt x="1249539" y="137460"/>
                      <a:pt x="1252079" y="153970"/>
                      <a:pt x="1258429" y="170480"/>
                    </a:cubicBezTo>
                    <a:cubicBezTo>
                      <a:pt x="1266049" y="188260"/>
                      <a:pt x="1271129" y="203500"/>
                      <a:pt x="1273669" y="223820"/>
                    </a:cubicBezTo>
                    <a:cubicBezTo>
                      <a:pt x="1276209" y="254300"/>
                      <a:pt x="1271129" y="305100"/>
                      <a:pt x="1262239" y="333040"/>
                    </a:cubicBezTo>
                    <a:cubicBezTo>
                      <a:pt x="1257159" y="353360"/>
                      <a:pt x="1250809" y="366060"/>
                      <a:pt x="1238109" y="382570"/>
                    </a:cubicBezTo>
                    <a:cubicBezTo>
                      <a:pt x="1220329" y="406700"/>
                      <a:pt x="1188579" y="439720"/>
                      <a:pt x="1158099" y="457500"/>
                    </a:cubicBezTo>
                    <a:cubicBezTo>
                      <a:pt x="1127619" y="474010"/>
                      <a:pt x="1081899" y="482900"/>
                      <a:pt x="1052689" y="485440"/>
                    </a:cubicBezTo>
                    <a:cubicBezTo>
                      <a:pt x="1031099" y="487980"/>
                      <a:pt x="1015859" y="484170"/>
                      <a:pt x="998079" y="480360"/>
                    </a:cubicBezTo>
                    <a:cubicBezTo>
                      <a:pt x="980299" y="476550"/>
                      <a:pt x="963789" y="472740"/>
                      <a:pt x="946009" y="462580"/>
                    </a:cubicBezTo>
                    <a:cubicBezTo>
                      <a:pt x="919339" y="447340"/>
                      <a:pt x="900289" y="399080"/>
                      <a:pt x="862189" y="391460"/>
                    </a:cubicBezTo>
                    <a:cubicBezTo>
                      <a:pt x="805039" y="381300"/>
                      <a:pt x="700899" y="470200"/>
                      <a:pt x="620889" y="474010"/>
                    </a:cubicBezTo>
                    <a:cubicBezTo>
                      <a:pt x="543419" y="476550"/>
                      <a:pt x="468489" y="415590"/>
                      <a:pt x="388479" y="418130"/>
                    </a:cubicBezTo>
                    <a:cubicBezTo>
                      <a:pt x="300849" y="420670"/>
                      <a:pt x="184009" y="489250"/>
                      <a:pt x="116699" y="500680"/>
                    </a:cubicBezTo>
                    <a:cubicBezTo>
                      <a:pt x="77329" y="507030"/>
                      <a:pt x="43039" y="526080"/>
                      <a:pt x="21449" y="505760"/>
                    </a:cubicBezTo>
                    <a:cubicBezTo>
                      <a:pt x="-26811" y="458770"/>
                      <a:pt x="21449" y="43480"/>
                      <a:pt x="21449" y="4348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7275784" y="5179605"/>
              <a:ext cx="2256790" cy="571500"/>
              <a:chOff x="0" y="0"/>
              <a:chExt cx="2256790" cy="5715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4516" y="49366"/>
                <a:ext cx="2202609" cy="566862"/>
              </a:xfrm>
              <a:custGeom>
                <a:avLst/>
                <a:gdLst/>
                <a:ahLst/>
                <a:cxnLst/>
                <a:rect l="l" t="t" r="r" b="b"/>
                <a:pathLst>
                  <a:path w="2202609" h="566862">
                    <a:moveTo>
                      <a:pt x="46284" y="1434"/>
                    </a:moveTo>
                    <a:cubicBezTo>
                      <a:pt x="1593144" y="5244"/>
                      <a:pt x="1903024" y="-12536"/>
                      <a:pt x="2028754" y="20484"/>
                    </a:cubicBezTo>
                    <a:cubicBezTo>
                      <a:pt x="2077014" y="33184"/>
                      <a:pt x="2101144" y="52234"/>
                      <a:pt x="2125274" y="71284"/>
                    </a:cubicBezTo>
                    <a:cubicBezTo>
                      <a:pt x="2141784" y="83984"/>
                      <a:pt x="2150674" y="94144"/>
                      <a:pt x="2162104" y="111924"/>
                    </a:cubicBezTo>
                    <a:cubicBezTo>
                      <a:pt x="2177344" y="137324"/>
                      <a:pt x="2195124" y="185584"/>
                      <a:pt x="2200204" y="214794"/>
                    </a:cubicBezTo>
                    <a:cubicBezTo>
                      <a:pt x="2204014" y="235114"/>
                      <a:pt x="2202744" y="251624"/>
                      <a:pt x="2200204" y="269404"/>
                    </a:cubicBezTo>
                    <a:cubicBezTo>
                      <a:pt x="2197664" y="288454"/>
                      <a:pt x="2196394" y="303694"/>
                      <a:pt x="2187504" y="322744"/>
                    </a:cubicBezTo>
                    <a:cubicBezTo>
                      <a:pt x="2174804" y="350684"/>
                      <a:pt x="2145594" y="392594"/>
                      <a:pt x="2125274" y="412914"/>
                    </a:cubicBezTo>
                    <a:cubicBezTo>
                      <a:pt x="2110034" y="428154"/>
                      <a:pt x="2098604" y="435774"/>
                      <a:pt x="2079554" y="444664"/>
                    </a:cubicBezTo>
                    <a:cubicBezTo>
                      <a:pt x="2052884" y="457364"/>
                      <a:pt x="2013514" y="477684"/>
                      <a:pt x="1972874" y="471334"/>
                    </a:cubicBezTo>
                    <a:cubicBezTo>
                      <a:pt x="1911914" y="459904"/>
                      <a:pt x="1751894" y="365924"/>
                      <a:pt x="1758244" y="320204"/>
                    </a:cubicBezTo>
                    <a:cubicBezTo>
                      <a:pt x="1767134" y="260514"/>
                      <a:pt x="2179884" y="224954"/>
                      <a:pt x="2188774" y="163994"/>
                    </a:cubicBezTo>
                    <a:cubicBezTo>
                      <a:pt x="2195124" y="118274"/>
                      <a:pt x="1969064" y="25564"/>
                      <a:pt x="1972874" y="14134"/>
                    </a:cubicBezTo>
                    <a:cubicBezTo>
                      <a:pt x="1975414" y="7784"/>
                      <a:pt x="2008434" y="14134"/>
                      <a:pt x="2028754" y="20484"/>
                    </a:cubicBezTo>
                    <a:cubicBezTo>
                      <a:pt x="2056694" y="29374"/>
                      <a:pt x="2098604" y="47154"/>
                      <a:pt x="2125274" y="71284"/>
                    </a:cubicBezTo>
                    <a:cubicBezTo>
                      <a:pt x="2151944" y="94144"/>
                      <a:pt x="2174804" y="133514"/>
                      <a:pt x="2187504" y="161454"/>
                    </a:cubicBezTo>
                    <a:cubicBezTo>
                      <a:pt x="2196394" y="180504"/>
                      <a:pt x="2198934" y="193204"/>
                      <a:pt x="2200204" y="214794"/>
                    </a:cubicBezTo>
                    <a:cubicBezTo>
                      <a:pt x="2202744" y="244004"/>
                      <a:pt x="2196394" y="294804"/>
                      <a:pt x="2187504" y="322744"/>
                    </a:cubicBezTo>
                    <a:cubicBezTo>
                      <a:pt x="2181154" y="343064"/>
                      <a:pt x="2174804" y="355764"/>
                      <a:pt x="2162104" y="372274"/>
                    </a:cubicBezTo>
                    <a:cubicBezTo>
                      <a:pt x="2143054" y="395134"/>
                      <a:pt x="2104954" y="429424"/>
                      <a:pt x="2079554" y="444664"/>
                    </a:cubicBezTo>
                    <a:cubicBezTo>
                      <a:pt x="2061774" y="456094"/>
                      <a:pt x="2059234" y="458634"/>
                      <a:pt x="2028754" y="463714"/>
                    </a:cubicBezTo>
                    <a:cubicBezTo>
                      <a:pt x="1845874" y="498004"/>
                      <a:pt x="260914" y="678344"/>
                      <a:pt x="46284" y="462444"/>
                    </a:cubicBezTo>
                    <a:cubicBezTo>
                      <a:pt x="-57856" y="359574"/>
                      <a:pt x="46284" y="1434"/>
                      <a:pt x="46284" y="1434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1824924" y="5095785"/>
              <a:ext cx="2087880" cy="590550"/>
              <a:chOff x="0" y="0"/>
              <a:chExt cx="2087880" cy="5905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902" y="12460"/>
                <a:ext cx="2092043" cy="600247"/>
              </a:xfrm>
              <a:custGeom>
                <a:avLst/>
                <a:gdLst/>
                <a:ahLst/>
                <a:cxnLst/>
                <a:rect l="l" t="t" r="r" b="b"/>
                <a:pathLst>
                  <a:path w="2092043" h="600247">
                    <a:moveTo>
                      <a:pt x="42898" y="66280"/>
                    </a:moveTo>
                    <a:cubicBezTo>
                      <a:pt x="1613888" y="59930"/>
                      <a:pt x="1926308" y="-59450"/>
                      <a:pt x="2029178" y="38340"/>
                    </a:cubicBezTo>
                    <a:cubicBezTo>
                      <a:pt x="2112998" y="118350"/>
                      <a:pt x="2112998" y="409180"/>
                      <a:pt x="2029178" y="495540"/>
                    </a:cubicBezTo>
                    <a:cubicBezTo>
                      <a:pt x="1927578" y="602220"/>
                      <a:pt x="1613888" y="517130"/>
                      <a:pt x="1350998" y="523480"/>
                    </a:cubicBezTo>
                    <a:cubicBezTo>
                      <a:pt x="986508" y="531100"/>
                      <a:pt x="205458" y="689850"/>
                      <a:pt x="42898" y="527290"/>
                    </a:cubicBezTo>
                    <a:cubicBezTo>
                      <a:pt x="-53622" y="430770"/>
                      <a:pt x="42898" y="66280"/>
                      <a:pt x="42898" y="6628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1529014" y="5183415"/>
              <a:ext cx="554990" cy="554990"/>
              <a:chOff x="0" y="0"/>
              <a:chExt cx="554990" cy="55499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0316" y="47338"/>
                <a:ext cx="446254" cy="456066"/>
              </a:xfrm>
              <a:custGeom>
                <a:avLst/>
                <a:gdLst/>
                <a:ahLst/>
                <a:cxnLst/>
                <a:rect l="l" t="t" r="r" b="b"/>
                <a:pathLst>
                  <a:path w="446254" h="456066">
                    <a:moveTo>
                      <a:pt x="446254" y="159672"/>
                    </a:moveTo>
                    <a:cubicBezTo>
                      <a:pt x="446254" y="304452"/>
                      <a:pt x="429744" y="341282"/>
                      <a:pt x="408154" y="369222"/>
                    </a:cubicBezTo>
                    <a:cubicBezTo>
                      <a:pt x="386564" y="397162"/>
                      <a:pt x="354814" y="421292"/>
                      <a:pt x="321794" y="436532"/>
                    </a:cubicBezTo>
                    <a:cubicBezTo>
                      <a:pt x="290044" y="450502"/>
                      <a:pt x="249404" y="458122"/>
                      <a:pt x="213844" y="455582"/>
                    </a:cubicBezTo>
                    <a:cubicBezTo>
                      <a:pt x="179554" y="454312"/>
                      <a:pt x="140184" y="441612"/>
                      <a:pt x="109704" y="423832"/>
                    </a:cubicBezTo>
                    <a:cubicBezTo>
                      <a:pt x="79224" y="404782"/>
                      <a:pt x="51284" y="376842"/>
                      <a:pt x="32234" y="346362"/>
                    </a:cubicBezTo>
                    <a:cubicBezTo>
                      <a:pt x="14454" y="315882"/>
                      <a:pt x="1754" y="276512"/>
                      <a:pt x="484" y="242222"/>
                    </a:cubicBezTo>
                    <a:cubicBezTo>
                      <a:pt x="-2056" y="206662"/>
                      <a:pt x="5564" y="166022"/>
                      <a:pt x="19534" y="134272"/>
                    </a:cubicBezTo>
                    <a:cubicBezTo>
                      <a:pt x="34774" y="101252"/>
                      <a:pt x="58904" y="69502"/>
                      <a:pt x="86844" y="47912"/>
                    </a:cubicBezTo>
                    <a:cubicBezTo>
                      <a:pt x="114784" y="26322"/>
                      <a:pt x="152884" y="9812"/>
                      <a:pt x="187174" y="3462"/>
                    </a:cubicBezTo>
                    <a:cubicBezTo>
                      <a:pt x="221464" y="-2888"/>
                      <a:pt x="262104" y="-348"/>
                      <a:pt x="296394" y="9812"/>
                    </a:cubicBezTo>
                    <a:cubicBezTo>
                      <a:pt x="330684" y="19972"/>
                      <a:pt x="390374" y="66962"/>
                      <a:pt x="390374" y="66962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624534" y="4651285"/>
              <a:ext cx="1249680" cy="579120"/>
              <a:chOff x="0" y="0"/>
              <a:chExt cx="1249680" cy="57912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1853" y="64770"/>
                <a:ext cx="1187143" cy="522731"/>
              </a:xfrm>
              <a:custGeom>
                <a:avLst/>
                <a:gdLst/>
                <a:ahLst/>
                <a:cxnLst/>
                <a:rect l="l" t="t" r="r" b="b"/>
                <a:pathLst>
                  <a:path w="1187143" h="522731">
                    <a:moveTo>
                      <a:pt x="38947" y="0"/>
                    </a:moveTo>
                    <a:cubicBezTo>
                      <a:pt x="977477" y="6350"/>
                      <a:pt x="1178137" y="44450"/>
                      <a:pt x="1187027" y="100330"/>
                    </a:cubicBezTo>
                    <a:cubicBezTo>
                      <a:pt x="1194647" y="163830"/>
                      <a:pt x="826347" y="287020"/>
                      <a:pt x="807297" y="356870"/>
                    </a:cubicBezTo>
                    <a:cubicBezTo>
                      <a:pt x="798407" y="388620"/>
                      <a:pt x="861907" y="420370"/>
                      <a:pt x="849207" y="443230"/>
                    </a:cubicBezTo>
                    <a:cubicBezTo>
                      <a:pt x="809837" y="506730"/>
                      <a:pt x="155787" y="575310"/>
                      <a:pt x="38947" y="462280"/>
                    </a:cubicBezTo>
                    <a:cubicBezTo>
                      <a:pt x="-48683" y="375920"/>
                      <a:pt x="38947" y="0"/>
                      <a:pt x="38947" y="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5826714" y="4638585"/>
              <a:ext cx="1259840" cy="654050"/>
              <a:chOff x="0" y="0"/>
              <a:chExt cx="1259840" cy="6540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29394" y="50800"/>
                <a:ext cx="1178439" cy="565237"/>
              </a:xfrm>
              <a:custGeom>
                <a:avLst/>
                <a:gdLst/>
                <a:ahLst/>
                <a:cxnLst/>
                <a:rect l="l" t="t" r="r" b="b"/>
                <a:pathLst>
                  <a:path w="1178439" h="565237">
                    <a:moveTo>
                      <a:pt x="59506" y="0"/>
                    </a:moveTo>
                    <a:cubicBezTo>
                      <a:pt x="552266" y="58420"/>
                      <a:pt x="751656" y="27940"/>
                      <a:pt x="890086" y="53340"/>
                    </a:cubicBezTo>
                    <a:cubicBezTo>
                      <a:pt x="1000576" y="74930"/>
                      <a:pt x="1173296" y="171450"/>
                      <a:pt x="1178376" y="162560"/>
                    </a:cubicBezTo>
                    <a:cubicBezTo>
                      <a:pt x="1180916" y="157480"/>
                      <a:pt x="1105986" y="85090"/>
                      <a:pt x="1085666" y="95250"/>
                    </a:cubicBezTo>
                    <a:cubicBezTo>
                      <a:pt x="1042486" y="116840"/>
                      <a:pt x="1142816" y="497840"/>
                      <a:pt x="1076776" y="552450"/>
                    </a:cubicBezTo>
                    <a:cubicBezTo>
                      <a:pt x="1027246" y="594360"/>
                      <a:pt x="919296" y="520700"/>
                      <a:pt x="821506" y="510540"/>
                    </a:cubicBezTo>
                    <a:cubicBezTo>
                      <a:pt x="689426" y="499110"/>
                      <a:pt x="497656" y="508000"/>
                      <a:pt x="355416" y="497840"/>
                    </a:cubicBezTo>
                    <a:cubicBezTo>
                      <a:pt x="234766" y="490220"/>
                      <a:pt x="76016" y="527050"/>
                      <a:pt x="21406" y="461010"/>
                    </a:cubicBezTo>
                    <a:cubicBezTo>
                      <a:pt x="-43364" y="382270"/>
                      <a:pt x="59506" y="0"/>
                      <a:pt x="59506" y="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TextBox 3"/>
          <p:cNvSpPr txBox="1"/>
          <p:nvPr/>
        </p:nvSpPr>
        <p:spPr>
          <a:xfrm>
            <a:off x="1288871" y="3663950"/>
            <a:ext cx="15710259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How different are housing markets of three biggest cities?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825769" y="1515672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Box 4"/>
          <p:cNvSpPr txBox="1"/>
          <p:nvPr/>
        </p:nvSpPr>
        <p:spPr>
          <a:xfrm>
            <a:off x="825768" y="2012950"/>
            <a:ext cx="3898631" cy="6232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Warsaw </a:t>
            </a:r>
          </a:p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vs</a:t>
            </a:r>
          </a:p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Krakow</a:t>
            </a:r>
          </a:p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vs</a:t>
            </a:r>
          </a:p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Wroclaw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941463" y="1477573"/>
            <a:ext cx="3556007" cy="3284928"/>
            <a:chOff x="0" y="0"/>
            <a:chExt cx="4461308" cy="446130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4461308" cy="446130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27000" y="0"/>
                    </a:moveTo>
                    <a:lnTo>
                      <a:pt x="685800" y="0"/>
                    </a:lnTo>
                    <a:cubicBezTo>
                      <a:pt x="755940" y="0"/>
                      <a:pt x="812800" y="56860"/>
                      <a:pt x="812800" y="127000"/>
                    </a:cubicBezTo>
                    <a:lnTo>
                      <a:pt x="812800" y="685800"/>
                    </a:lnTo>
                    <a:cubicBezTo>
                      <a:pt x="812800" y="755940"/>
                      <a:pt x="755940" y="812800"/>
                      <a:pt x="685800" y="812800"/>
                    </a:cubicBezTo>
                    <a:lnTo>
                      <a:pt x="127000" y="812800"/>
                    </a:lnTo>
                    <a:cubicBezTo>
                      <a:pt x="56860" y="812800"/>
                      <a:pt x="0" y="755940"/>
                      <a:pt x="0" y="685800"/>
                    </a:cubicBezTo>
                    <a:lnTo>
                      <a:pt x="0" y="127000"/>
                    </a:lnTo>
                    <a:cubicBezTo>
                      <a:pt x="0" y="56860"/>
                      <a:pt x="56860" y="0"/>
                      <a:pt x="127000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54966" y="345763"/>
              <a:ext cx="3678059" cy="3684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00"/>
                </a:lnSpc>
              </a:pPr>
              <a:r>
                <a:rPr lang="en-US" sz="2000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Hypotheses:</a:t>
              </a:r>
            </a:p>
            <a:p>
              <a:pPr algn="ctr">
                <a:lnSpc>
                  <a:spcPts val="3200"/>
                </a:lnSpc>
              </a:pPr>
              <a:r>
                <a:rPr lang="en-US" sz="2000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</a:p>
            <a:p>
              <a:pPr marL="0" lvl="0" indent="0" algn="ctr">
                <a:lnSpc>
                  <a:spcPts val="3200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H₀: </a:t>
              </a:r>
              <a:r>
                <a:rPr lang="en-US" sz="2000" dirty="0" err="1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μ_W</a:t>
              </a:r>
              <a:r>
                <a:rPr lang="en-US" sz="2000" u="none" strike="noStrike" dirty="0" err="1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arsaw</a:t>
              </a:r>
              <a:r>
                <a:rPr lang="en-US" sz="2000" u="none" strike="noStrike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= </a:t>
              </a:r>
              <a:r>
                <a:rPr lang="en-US" sz="2000" u="none" strike="noStrike" dirty="0" err="1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μ_Krakow</a:t>
              </a:r>
              <a:r>
                <a:rPr lang="en-US" sz="2000" u="none" strike="noStrike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= </a:t>
              </a:r>
              <a:r>
                <a:rPr lang="en-US" sz="2000" u="none" strike="noStrike" dirty="0" err="1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μ_Wroclaw</a:t>
              </a:r>
              <a:endParaRPr lang="en-US" sz="2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  <a:p>
              <a:pPr marL="0" lvl="0" indent="0" algn="ctr">
                <a:lnSpc>
                  <a:spcPts val="3200"/>
                </a:lnSpc>
                <a:spcBef>
                  <a:spcPct val="0"/>
                </a:spcBef>
              </a:pPr>
              <a:endParaRPr lang="en-US" sz="2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  <a:p>
              <a:pPr marL="0" lvl="0" indent="0" algn="ctr">
                <a:lnSpc>
                  <a:spcPts val="3200"/>
                </a:lnSpc>
                <a:spcBef>
                  <a:spcPct val="0"/>
                </a:spcBef>
              </a:pPr>
              <a:r>
                <a:rPr lang="en-US" sz="2000" u="none" strike="noStrike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H₁: At least one differs 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119231" y="5463447"/>
            <a:ext cx="3345981" cy="3345981"/>
            <a:chOff x="0" y="0"/>
            <a:chExt cx="4461308" cy="4461308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461308" cy="4461308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27000" y="0"/>
                    </a:moveTo>
                    <a:lnTo>
                      <a:pt x="685800" y="0"/>
                    </a:lnTo>
                    <a:cubicBezTo>
                      <a:pt x="755940" y="0"/>
                      <a:pt x="812800" y="56860"/>
                      <a:pt x="812800" y="127000"/>
                    </a:cubicBezTo>
                    <a:lnTo>
                      <a:pt x="812800" y="685800"/>
                    </a:lnTo>
                    <a:cubicBezTo>
                      <a:pt x="812800" y="755940"/>
                      <a:pt x="755940" y="812800"/>
                      <a:pt x="685800" y="812800"/>
                    </a:cubicBezTo>
                    <a:lnTo>
                      <a:pt x="127000" y="812800"/>
                    </a:lnTo>
                    <a:cubicBezTo>
                      <a:pt x="56860" y="812800"/>
                      <a:pt x="0" y="755940"/>
                      <a:pt x="0" y="685800"/>
                    </a:cubicBezTo>
                    <a:lnTo>
                      <a:pt x="0" y="127000"/>
                    </a:lnTo>
                    <a:cubicBezTo>
                      <a:pt x="0" y="56860"/>
                      <a:pt x="56860" y="0"/>
                      <a:pt x="127000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ru-KZ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43106" tIns="43106" rIns="43106" bIns="43106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02409" y="1145863"/>
              <a:ext cx="3183172" cy="20838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Obtained </a:t>
              </a:r>
            </a:p>
            <a:p>
              <a:pPr algn="ctr">
                <a:lnSpc>
                  <a:spcPts val="32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x̄_1, </a:t>
              </a:r>
            </a:p>
            <a:p>
              <a:pPr algn="ctr">
                <a:lnSpc>
                  <a:spcPts val="32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x̄_2, </a:t>
              </a:r>
            </a:p>
            <a:p>
              <a:pPr marL="0" lvl="0" indent="0" algn="ctr">
                <a:lnSpc>
                  <a:spcPts val="32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x̄_3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763694" y="1477572"/>
            <a:ext cx="3345981" cy="3345981"/>
            <a:chOff x="0" y="0"/>
            <a:chExt cx="4461308" cy="4461308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4461308" cy="4461308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27000" y="0"/>
                    </a:moveTo>
                    <a:lnTo>
                      <a:pt x="685800" y="0"/>
                    </a:lnTo>
                    <a:cubicBezTo>
                      <a:pt x="755940" y="0"/>
                      <a:pt x="812800" y="56860"/>
                      <a:pt x="812800" y="127000"/>
                    </a:cubicBezTo>
                    <a:lnTo>
                      <a:pt x="812800" y="685800"/>
                    </a:lnTo>
                    <a:cubicBezTo>
                      <a:pt x="812800" y="755940"/>
                      <a:pt x="755940" y="812800"/>
                      <a:pt x="685800" y="812800"/>
                    </a:cubicBezTo>
                    <a:lnTo>
                      <a:pt x="127000" y="812800"/>
                    </a:lnTo>
                    <a:cubicBezTo>
                      <a:pt x="56860" y="812800"/>
                      <a:pt x="0" y="755940"/>
                      <a:pt x="0" y="685800"/>
                    </a:cubicBezTo>
                    <a:lnTo>
                      <a:pt x="0" y="127000"/>
                    </a:lnTo>
                    <a:cubicBezTo>
                      <a:pt x="0" y="56860"/>
                      <a:pt x="56860" y="0"/>
                      <a:pt x="127000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ru-KZ" dirty="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77483" y="879163"/>
              <a:ext cx="4106342" cy="2617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00"/>
                </a:lnSpc>
                <a:spcBef>
                  <a:spcPct val="0"/>
                </a:spcBef>
              </a:pPr>
              <a:r>
                <a:rPr lang="en-US" sz="20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 = 3 </a:t>
              </a:r>
            </a:p>
            <a:p>
              <a:pPr marL="0" lvl="0" indent="0" algn="ctr">
                <a:lnSpc>
                  <a:spcPts val="3200"/>
                </a:lnSpc>
                <a:spcBef>
                  <a:spcPct val="0"/>
                </a:spcBef>
              </a:pPr>
              <a:r>
                <a:rPr lang="en-US" sz="20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 = 6 </a:t>
              </a:r>
            </a:p>
            <a:p>
              <a:pPr marL="0" lvl="0" indent="0" algn="ctr">
                <a:lnSpc>
                  <a:spcPts val="3200"/>
                </a:lnSpc>
                <a:spcBef>
                  <a:spcPct val="0"/>
                </a:spcBef>
              </a:pPr>
              <a:r>
                <a:rPr lang="en-US" sz="20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n_1 = 6962 </a:t>
              </a:r>
            </a:p>
            <a:p>
              <a:pPr marL="0" lvl="0" indent="0" algn="ctr">
                <a:lnSpc>
                  <a:spcPts val="3200"/>
                </a:lnSpc>
                <a:spcBef>
                  <a:spcPct val="0"/>
                </a:spcBef>
              </a:pPr>
              <a:r>
                <a:rPr lang="en-US" sz="20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n_2 = 3245</a:t>
              </a:r>
            </a:p>
            <a:p>
              <a:pPr marL="0" lvl="0" indent="0" algn="ctr">
                <a:lnSpc>
                  <a:spcPts val="3200"/>
                </a:lnSpc>
                <a:spcBef>
                  <a:spcPct val="0"/>
                </a:spcBef>
              </a:pPr>
              <a:r>
                <a:rPr lang="en-US" sz="20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n_3 = 2271 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941463" y="5463447"/>
            <a:ext cx="3345981" cy="3345981"/>
            <a:chOff x="0" y="0"/>
            <a:chExt cx="4461308" cy="4461308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4461308" cy="4461308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27000" y="0"/>
                    </a:moveTo>
                    <a:lnTo>
                      <a:pt x="685800" y="0"/>
                    </a:lnTo>
                    <a:cubicBezTo>
                      <a:pt x="755940" y="0"/>
                      <a:pt x="812800" y="56860"/>
                      <a:pt x="812800" y="127000"/>
                    </a:cubicBezTo>
                    <a:lnTo>
                      <a:pt x="812800" y="685800"/>
                    </a:lnTo>
                    <a:cubicBezTo>
                      <a:pt x="812800" y="755940"/>
                      <a:pt x="755940" y="812800"/>
                      <a:pt x="685800" y="812800"/>
                    </a:cubicBezTo>
                    <a:lnTo>
                      <a:pt x="127000" y="812800"/>
                    </a:lnTo>
                    <a:cubicBezTo>
                      <a:pt x="56860" y="812800"/>
                      <a:pt x="0" y="755940"/>
                      <a:pt x="0" y="685800"/>
                    </a:cubicBezTo>
                    <a:lnTo>
                      <a:pt x="0" y="127000"/>
                    </a:lnTo>
                    <a:cubicBezTo>
                      <a:pt x="0" y="56860"/>
                      <a:pt x="56860" y="0"/>
                      <a:pt x="127000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ru-KZ" dirty="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43106" tIns="43106" rIns="43106" bIns="43106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97919" y="1412563"/>
              <a:ext cx="4265470" cy="15504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F-st</a:t>
              </a:r>
              <a:r>
                <a:rPr lang="en-US" sz="20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atistic = 252.9693 </a:t>
              </a:r>
            </a:p>
            <a:p>
              <a:pPr marL="0" lvl="0" indent="0" algn="ctr">
                <a:lnSpc>
                  <a:spcPts val="3200"/>
                </a:lnSpc>
                <a:spcBef>
                  <a:spcPct val="0"/>
                </a:spcBef>
              </a:pPr>
              <a:r>
                <a:rPr lang="en-US" sz="20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df₁ = 12, </a:t>
              </a:r>
            </a:p>
            <a:p>
              <a:pPr marL="0" lvl="0" indent="0" algn="ctr">
                <a:lnSpc>
                  <a:spcPts val="3200"/>
                </a:lnSpc>
                <a:spcBef>
                  <a:spcPct val="0"/>
                </a:spcBef>
              </a:pPr>
              <a:r>
                <a:rPr lang="en-US" sz="20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df₂ = 24941.0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19231" y="1477572"/>
            <a:ext cx="3345981" cy="3345981"/>
            <a:chOff x="0" y="0"/>
            <a:chExt cx="4461308" cy="4461308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4461308" cy="4461308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27000" y="0"/>
                    </a:moveTo>
                    <a:lnTo>
                      <a:pt x="685800" y="0"/>
                    </a:lnTo>
                    <a:cubicBezTo>
                      <a:pt x="755940" y="0"/>
                      <a:pt x="812800" y="56860"/>
                      <a:pt x="812800" y="127000"/>
                    </a:cubicBezTo>
                    <a:lnTo>
                      <a:pt x="812800" y="685800"/>
                    </a:lnTo>
                    <a:cubicBezTo>
                      <a:pt x="812800" y="755940"/>
                      <a:pt x="755940" y="812800"/>
                      <a:pt x="685800" y="812800"/>
                    </a:cubicBezTo>
                    <a:lnTo>
                      <a:pt x="127000" y="812800"/>
                    </a:lnTo>
                    <a:cubicBezTo>
                      <a:pt x="56860" y="812800"/>
                      <a:pt x="0" y="755940"/>
                      <a:pt x="0" y="685800"/>
                    </a:cubicBezTo>
                    <a:lnTo>
                      <a:pt x="0" y="127000"/>
                    </a:lnTo>
                    <a:cubicBezTo>
                      <a:pt x="0" y="56860"/>
                      <a:pt x="56860" y="0"/>
                      <a:pt x="127000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54966" y="612463"/>
              <a:ext cx="3751376" cy="3150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- squ</a:t>
              </a:r>
              <a:r>
                <a:rPr lang="en-US" sz="20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areMeters </a:t>
              </a:r>
            </a:p>
            <a:p>
              <a:pPr marL="0" lvl="0" indent="0" algn="ctr">
                <a:lnSpc>
                  <a:spcPts val="3200"/>
                </a:lnSpc>
              </a:pPr>
              <a:r>
                <a:rPr lang="en-US" sz="20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- price </a:t>
              </a:r>
            </a:p>
            <a:p>
              <a:pPr marL="0" lvl="0" indent="0" algn="ctr">
                <a:lnSpc>
                  <a:spcPts val="3200"/>
                </a:lnSpc>
              </a:pPr>
              <a:r>
                <a:rPr lang="en-US" sz="20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- rooms </a:t>
              </a:r>
            </a:p>
            <a:p>
              <a:pPr marL="0" lvl="0" indent="0" algn="ctr">
                <a:lnSpc>
                  <a:spcPts val="3200"/>
                </a:lnSpc>
              </a:pPr>
              <a:r>
                <a:rPr lang="en-US" sz="20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- floor </a:t>
              </a:r>
            </a:p>
            <a:p>
              <a:pPr marL="0" lvl="0" indent="0" algn="ctr">
                <a:lnSpc>
                  <a:spcPts val="3200"/>
                </a:lnSpc>
              </a:pPr>
              <a:r>
                <a:rPr lang="en-US" sz="20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- floorCount </a:t>
              </a:r>
            </a:p>
            <a:p>
              <a:pPr marL="0" lvl="0" indent="0" algn="ctr">
                <a:lnSpc>
                  <a:spcPts val="3200"/>
                </a:lnSpc>
              </a:pPr>
              <a:r>
                <a:rPr lang="en-US" sz="20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- buildYear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763694" y="5463447"/>
            <a:ext cx="3345981" cy="3345981"/>
            <a:chOff x="0" y="0"/>
            <a:chExt cx="4461308" cy="4461308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4461308" cy="4461308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27000" y="0"/>
                    </a:moveTo>
                    <a:lnTo>
                      <a:pt x="685800" y="0"/>
                    </a:lnTo>
                    <a:cubicBezTo>
                      <a:pt x="755940" y="0"/>
                      <a:pt x="812800" y="56860"/>
                      <a:pt x="812800" y="127000"/>
                    </a:cubicBezTo>
                    <a:lnTo>
                      <a:pt x="812800" y="685800"/>
                    </a:lnTo>
                    <a:cubicBezTo>
                      <a:pt x="812800" y="755940"/>
                      <a:pt x="755940" y="812800"/>
                      <a:pt x="685800" y="812800"/>
                    </a:cubicBezTo>
                    <a:lnTo>
                      <a:pt x="127000" y="812800"/>
                    </a:lnTo>
                    <a:cubicBezTo>
                      <a:pt x="56860" y="812800"/>
                      <a:pt x="0" y="755940"/>
                      <a:pt x="0" y="685800"/>
                    </a:cubicBezTo>
                    <a:lnTo>
                      <a:pt x="0" y="127000"/>
                    </a:lnTo>
                    <a:cubicBezTo>
                      <a:pt x="0" y="56860"/>
                      <a:pt x="56860" y="0"/>
                      <a:pt x="127000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ru-KZ" dirty="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43106" tIns="43106" rIns="43106" bIns="43106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639068" y="712581"/>
              <a:ext cx="3183172" cy="29218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Reject H₀</a:t>
              </a:r>
            </a:p>
            <a:p>
              <a:pPr algn="ctr">
                <a:lnSpc>
                  <a:spcPts val="4479"/>
                </a:lnSpc>
              </a:pPr>
              <a:endPara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Cities </a:t>
              </a:r>
              <a:r>
                <a:rPr lang="en-US" sz="2799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are different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Freeform 3"/>
          <p:cNvSpPr/>
          <p:nvPr/>
        </p:nvSpPr>
        <p:spPr>
          <a:xfrm>
            <a:off x="1028700" y="2201800"/>
            <a:ext cx="15298568" cy="7821393"/>
          </a:xfrm>
          <a:custGeom>
            <a:avLst/>
            <a:gdLst/>
            <a:ahLst/>
            <a:cxnLst/>
            <a:rect l="l" t="t" r="r" b="b"/>
            <a:pathLst>
              <a:path w="15298568" h="7821393">
                <a:moveTo>
                  <a:pt x="0" y="0"/>
                </a:moveTo>
                <a:lnTo>
                  <a:pt x="15298568" y="0"/>
                </a:lnTo>
                <a:lnTo>
                  <a:pt x="15298568" y="7821393"/>
                </a:lnTo>
                <a:lnTo>
                  <a:pt x="0" y="7821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4" name="TextBox 4"/>
          <p:cNvSpPr txBox="1"/>
          <p:nvPr/>
        </p:nvSpPr>
        <p:spPr>
          <a:xfrm>
            <a:off x="1028700" y="258763"/>
            <a:ext cx="10902360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Why are they different?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Box 4"/>
          <p:cNvSpPr txBox="1"/>
          <p:nvPr/>
        </p:nvSpPr>
        <p:spPr>
          <a:xfrm>
            <a:off x="1166399" y="1233825"/>
            <a:ext cx="382278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Insights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66399" y="3491019"/>
            <a:ext cx="5026555" cy="5026555"/>
            <a:chOff x="0" y="0"/>
            <a:chExt cx="6702073" cy="6702073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6702073" cy="6702073"/>
              <a:chOff x="0" y="0"/>
              <a:chExt cx="4489857" cy="448985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489857" cy="4489857"/>
              </a:xfrm>
              <a:custGeom>
                <a:avLst/>
                <a:gdLst/>
                <a:ahLst/>
                <a:cxnLst/>
                <a:rect l="l" t="t" r="r" b="b"/>
                <a:pathLst>
                  <a:path w="4489857" h="4489857">
                    <a:moveTo>
                      <a:pt x="22991" y="0"/>
                    </a:moveTo>
                    <a:lnTo>
                      <a:pt x="4466866" y="0"/>
                    </a:lnTo>
                    <a:cubicBezTo>
                      <a:pt x="4479564" y="0"/>
                      <a:pt x="4489857" y="10293"/>
                      <a:pt x="4489857" y="22991"/>
                    </a:cubicBezTo>
                    <a:lnTo>
                      <a:pt x="4489857" y="4466866"/>
                    </a:lnTo>
                    <a:cubicBezTo>
                      <a:pt x="4489857" y="4479564"/>
                      <a:pt x="4479564" y="4489857"/>
                      <a:pt x="4466866" y="4489857"/>
                    </a:cubicBezTo>
                    <a:lnTo>
                      <a:pt x="22991" y="4489857"/>
                    </a:lnTo>
                    <a:cubicBezTo>
                      <a:pt x="10293" y="4489857"/>
                      <a:pt x="0" y="4479564"/>
                      <a:pt x="0" y="4466866"/>
                    </a:cubicBezTo>
                    <a:lnTo>
                      <a:pt x="0" y="22991"/>
                    </a:lnTo>
                    <a:cubicBezTo>
                      <a:pt x="0" y="10293"/>
                      <a:pt x="10293" y="0"/>
                      <a:pt x="22991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sq">
                <a:solidFill>
                  <a:srgbClr val="000000">
                    <a:alpha val="4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489857" cy="4537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499814" y="686154"/>
              <a:ext cx="5702444" cy="50249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250"/>
                </a:lnSpc>
              </a:pPr>
              <a:r>
                <a:rPr lang="en-US" sz="25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Warsaw apartments are the most</a:t>
              </a:r>
              <a:r>
                <a:rPr lang="en-US" sz="25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expensive (avg. 1,050K PLN) and are in tallest buildings (avg. 6.4 floors)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30723" y="3491019"/>
            <a:ext cx="5026555" cy="5026555"/>
            <a:chOff x="0" y="0"/>
            <a:chExt cx="6702073" cy="6702073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6702073" cy="6702073"/>
              <a:chOff x="0" y="0"/>
              <a:chExt cx="4489857" cy="448985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489857" cy="4489857"/>
              </a:xfrm>
              <a:custGeom>
                <a:avLst/>
                <a:gdLst/>
                <a:ahLst/>
                <a:cxnLst/>
                <a:rect l="l" t="t" r="r" b="b"/>
                <a:pathLst>
                  <a:path w="4489857" h="4489857">
                    <a:moveTo>
                      <a:pt x="22991" y="0"/>
                    </a:moveTo>
                    <a:lnTo>
                      <a:pt x="4466866" y="0"/>
                    </a:lnTo>
                    <a:cubicBezTo>
                      <a:pt x="4479564" y="0"/>
                      <a:pt x="4489857" y="10293"/>
                      <a:pt x="4489857" y="22991"/>
                    </a:cubicBezTo>
                    <a:lnTo>
                      <a:pt x="4489857" y="4466866"/>
                    </a:lnTo>
                    <a:cubicBezTo>
                      <a:pt x="4489857" y="4479564"/>
                      <a:pt x="4479564" y="4489857"/>
                      <a:pt x="4466866" y="4489857"/>
                    </a:cubicBezTo>
                    <a:lnTo>
                      <a:pt x="22991" y="4489857"/>
                    </a:lnTo>
                    <a:cubicBezTo>
                      <a:pt x="10293" y="4489857"/>
                      <a:pt x="0" y="4479564"/>
                      <a:pt x="0" y="4466866"/>
                    </a:cubicBezTo>
                    <a:lnTo>
                      <a:pt x="0" y="22991"/>
                    </a:lnTo>
                    <a:cubicBezTo>
                      <a:pt x="0" y="10293"/>
                      <a:pt x="10293" y="0"/>
                      <a:pt x="22991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sq">
                <a:solidFill>
                  <a:srgbClr val="000000">
                    <a:alpha val="4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4489857" cy="4537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499814" y="1535148"/>
              <a:ext cx="5702444" cy="327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999"/>
                </a:lnSpc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</a:t>
              </a:r>
              <a:r>
                <a:rPr lang="en-US" sz="2799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roclaw has the lowest average prices (746K PLN)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095047" y="3491019"/>
            <a:ext cx="5026555" cy="5026555"/>
            <a:chOff x="0" y="0"/>
            <a:chExt cx="6702073" cy="6702073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702073" cy="6702073"/>
              <a:chOff x="0" y="0"/>
              <a:chExt cx="4489857" cy="448985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489857" cy="4489857"/>
              </a:xfrm>
              <a:custGeom>
                <a:avLst/>
                <a:gdLst/>
                <a:ahLst/>
                <a:cxnLst/>
                <a:rect l="l" t="t" r="r" b="b"/>
                <a:pathLst>
                  <a:path w="4489857" h="4489857">
                    <a:moveTo>
                      <a:pt x="22991" y="0"/>
                    </a:moveTo>
                    <a:lnTo>
                      <a:pt x="4466866" y="0"/>
                    </a:lnTo>
                    <a:cubicBezTo>
                      <a:pt x="4479564" y="0"/>
                      <a:pt x="4489857" y="10293"/>
                      <a:pt x="4489857" y="22991"/>
                    </a:cubicBezTo>
                    <a:lnTo>
                      <a:pt x="4489857" y="4466866"/>
                    </a:lnTo>
                    <a:cubicBezTo>
                      <a:pt x="4489857" y="4479564"/>
                      <a:pt x="4479564" y="4489857"/>
                      <a:pt x="4466866" y="4489857"/>
                    </a:cubicBezTo>
                    <a:lnTo>
                      <a:pt x="22991" y="4489857"/>
                    </a:lnTo>
                    <a:cubicBezTo>
                      <a:pt x="10293" y="4489857"/>
                      <a:pt x="0" y="4479564"/>
                      <a:pt x="0" y="4466866"/>
                    </a:cubicBezTo>
                    <a:lnTo>
                      <a:pt x="0" y="22991"/>
                    </a:lnTo>
                    <a:cubicBezTo>
                      <a:pt x="0" y="10293"/>
                      <a:pt x="10293" y="0"/>
                      <a:pt x="22991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sq">
                <a:solidFill>
                  <a:srgbClr val="000000">
                    <a:alpha val="4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4489857" cy="4537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99814" y="1687480"/>
              <a:ext cx="5702444" cy="327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999"/>
                </a:lnSpc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No difference in average number of rooms and a y</a:t>
              </a:r>
              <a:r>
                <a:rPr lang="en-US" sz="2799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ear built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TextBox 3"/>
          <p:cNvSpPr txBox="1"/>
          <p:nvPr/>
        </p:nvSpPr>
        <p:spPr>
          <a:xfrm>
            <a:off x="664468" y="1887539"/>
            <a:ext cx="16959064" cy="589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Principal Components Analysis </a:t>
            </a:r>
          </a:p>
          <a:p>
            <a:pPr algn="ctr">
              <a:lnSpc>
                <a:spcPts val="160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and </a:t>
            </a:r>
          </a:p>
          <a:p>
            <a:pPr algn="ctr">
              <a:lnSpc>
                <a:spcPts val="160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Principal Components Regression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1166399" y="544788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Freeform 4"/>
          <p:cNvSpPr/>
          <p:nvPr/>
        </p:nvSpPr>
        <p:spPr>
          <a:xfrm>
            <a:off x="3495498" y="3734737"/>
            <a:ext cx="11297005" cy="6552263"/>
          </a:xfrm>
          <a:custGeom>
            <a:avLst/>
            <a:gdLst/>
            <a:ahLst/>
            <a:cxnLst/>
            <a:rect l="l" t="t" r="r" b="b"/>
            <a:pathLst>
              <a:path w="11297005" h="6552263">
                <a:moveTo>
                  <a:pt x="0" y="0"/>
                </a:moveTo>
                <a:lnTo>
                  <a:pt x="11297004" y="0"/>
                </a:lnTo>
                <a:lnTo>
                  <a:pt x="11297004" y="6552263"/>
                </a:lnTo>
                <a:lnTo>
                  <a:pt x="0" y="6552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5" name="TextBox 5"/>
          <p:cNvSpPr txBox="1"/>
          <p:nvPr/>
        </p:nvSpPr>
        <p:spPr>
          <a:xfrm>
            <a:off x="1166399" y="2006578"/>
            <a:ext cx="16230600" cy="53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Problem: High correl</a:t>
            </a: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ations among distance variables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6399" y="2888322"/>
            <a:ext cx="15597773" cy="53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Solu</a:t>
            </a: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tion: PCA reduces 12 correlated features → 4 uncorrelated components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6399" y="749913"/>
            <a:ext cx="433792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Motivation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685038" y="513568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Freeform 4"/>
          <p:cNvSpPr/>
          <p:nvPr/>
        </p:nvSpPr>
        <p:spPr>
          <a:xfrm>
            <a:off x="8283892" y="0"/>
            <a:ext cx="10004108" cy="10287000"/>
          </a:xfrm>
          <a:custGeom>
            <a:avLst/>
            <a:gdLst/>
            <a:ahLst/>
            <a:cxnLst/>
            <a:rect l="l" t="t" r="r" b="b"/>
            <a:pathLst>
              <a:path w="10004108" h="10287000">
                <a:moveTo>
                  <a:pt x="0" y="0"/>
                </a:moveTo>
                <a:lnTo>
                  <a:pt x="10004108" y="0"/>
                </a:lnTo>
                <a:lnTo>
                  <a:pt x="1000410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5" name="TextBox 5"/>
          <p:cNvSpPr txBox="1"/>
          <p:nvPr/>
        </p:nvSpPr>
        <p:spPr>
          <a:xfrm>
            <a:off x="685038" y="590903"/>
            <a:ext cx="5107357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Components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769" y="2597124"/>
            <a:ext cx="760631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Total variance explained: 75.21%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9769" y="3854424"/>
            <a:ext cx="760631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PC1 (37.1%): Location Quality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9769" y="5111724"/>
            <a:ext cx="760631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PC2 (15.6%): Apartment Size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9769" y="6369024"/>
            <a:ext cx="760631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PC3 (13.2%): Building Height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9769" y="7626324"/>
            <a:ext cx="760631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PC4 (9.3%): Suburbanization Pattern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341376" y="404298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Freeform 4"/>
          <p:cNvSpPr/>
          <p:nvPr/>
        </p:nvSpPr>
        <p:spPr>
          <a:xfrm>
            <a:off x="8101269" y="1628279"/>
            <a:ext cx="10186731" cy="8658721"/>
          </a:xfrm>
          <a:custGeom>
            <a:avLst/>
            <a:gdLst/>
            <a:ahLst/>
            <a:cxnLst/>
            <a:rect l="l" t="t" r="r" b="b"/>
            <a:pathLst>
              <a:path w="10186731" h="8658721">
                <a:moveTo>
                  <a:pt x="0" y="0"/>
                </a:moveTo>
                <a:lnTo>
                  <a:pt x="10186731" y="0"/>
                </a:lnTo>
                <a:lnTo>
                  <a:pt x="10186731" y="8658721"/>
                </a:lnTo>
                <a:lnTo>
                  <a:pt x="0" y="8658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5" name="TextBox 5"/>
          <p:cNvSpPr txBox="1"/>
          <p:nvPr/>
        </p:nvSpPr>
        <p:spPr>
          <a:xfrm>
            <a:off x="341376" y="461708"/>
            <a:ext cx="12206355" cy="221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Principal Components Regression</a:t>
            </a:r>
          </a:p>
          <a:p>
            <a:pPr algn="l">
              <a:lnSpc>
                <a:spcPts val="8960"/>
              </a:lnSpc>
            </a:pPr>
            <a:endParaRPr lang="en-US" sz="64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0" y="2460204"/>
            <a:ext cx="8101269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Model: log(price) ~ PC1 + PC2 + PC3 + PC4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4197140"/>
            <a:ext cx="7214459" cy="1344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l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All components statistically significant (p &lt; 0.05)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6638925"/>
            <a:ext cx="7072700" cy="639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l">
              <a:lnSpc>
                <a:spcPts val="5600"/>
              </a:lnSpc>
              <a:buFont typeface="Arial"/>
              <a:buChar char="•"/>
            </a:pPr>
            <a:r>
              <a:rPr lang="en-US" sz="2800" b="1" u="sng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R-squared: 0.3754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341376" y="404298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Freeform 4"/>
          <p:cNvSpPr/>
          <p:nvPr/>
        </p:nvSpPr>
        <p:spPr>
          <a:xfrm>
            <a:off x="8101269" y="1628279"/>
            <a:ext cx="10186731" cy="8658721"/>
          </a:xfrm>
          <a:custGeom>
            <a:avLst/>
            <a:gdLst/>
            <a:ahLst/>
            <a:cxnLst/>
            <a:rect l="l" t="t" r="r" b="b"/>
            <a:pathLst>
              <a:path w="10186731" h="8658721">
                <a:moveTo>
                  <a:pt x="0" y="0"/>
                </a:moveTo>
                <a:lnTo>
                  <a:pt x="10186731" y="0"/>
                </a:lnTo>
                <a:lnTo>
                  <a:pt x="10186731" y="8658721"/>
                </a:lnTo>
                <a:lnTo>
                  <a:pt x="0" y="8658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5" name="TextBox 5"/>
          <p:cNvSpPr txBox="1"/>
          <p:nvPr/>
        </p:nvSpPr>
        <p:spPr>
          <a:xfrm>
            <a:off x="341376" y="542994"/>
            <a:ext cx="12206355" cy="108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Hybrid PCR Model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2460204"/>
            <a:ext cx="8101269" cy="1344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Model: log(price) ~ PC1 + PC2 + PC3 + PC4 + </a:t>
            </a:r>
            <a:r>
              <a:rPr lang="en-US" sz="27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Binary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+ </a:t>
            </a:r>
            <a:r>
              <a:rPr lang="en-US" sz="27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Categorical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4789947"/>
            <a:ext cx="7214459" cy="1344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l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Features: 4 PCs + 5 binary + 23 dummies = 32 total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8740209"/>
            <a:ext cx="7072700" cy="639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l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R-squared: 0.831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7119689"/>
            <a:ext cx="7760811" cy="639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l">
              <a:lnSpc>
                <a:spcPts val="56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Model is statistically significant (p &lt; 0.05)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TextBox 3"/>
          <p:cNvSpPr txBox="1"/>
          <p:nvPr/>
        </p:nvSpPr>
        <p:spPr>
          <a:xfrm>
            <a:off x="664468" y="3807576"/>
            <a:ext cx="16959064" cy="1835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Factor Analysis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685038" y="513568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Freeform 4"/>
          <p:cNvSpPr/>
          <p:nvPr/>
        </p:nvSpPr>
        <p:spPr>
          <a:xfrm>
            <a:off x="758730" y="3235258"/>
            <a:ext cx="16770540" cy="6226063"/>
          </a:xfrm>
          <a:custGeom>
            <a:avLst/>
            <a:gdLst/>
            <a:ahLst/>
            <a:cxnLst/>
            <a:rect l="l" t="t" r="r" b="b"/>
            <a:pathLst>
              <a:path w="16770540" h="6226063">
                <a:moveTo>
                  <a:pt x="0" y="0"/>
                </a:moveTo>
                <a:lnTo>
                  <a:pt x="16770540" y="0"/>
                </a:lnTo>
                <a:lnTo>
                  <a:pt x="16770540" y="6226063"/>
                </a:lnTo>
                <a:lnTo>
                  <a:pt x="0" y="62260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5" name="TextBox 5"/>
          <p:cNvSpPr txBox="1"/>
          <p:nvPr/>
        </p:nvSpPr>
        <p:spPr>
          <a:xfrm>
            <a:off x="685038" y="590903"/>
            <a:ext cx="10272700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How many factors to keep?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8730" y="1674003"/>
            <a:ext cx="11605791" cy="1344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There are 4 factors with eigenvalues &gt; 1</a:t>
            </a:r>
          </a:p>
          <a:p>
            <a:pPr algn="l">
              <a:lnSpc>
                <a:spcPts val="5600"/>
              </a:lnSpc>
            </a:pPr>
            <a:r>
              <a:rPr lang="en-US" sz="2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Those factors are responcible for 75% variance of the data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685038" y="513568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Freeform 4"/>
          <p:cNvSpPr/>
          <p:nvPr/>
        </p:nvSpPr>
        <p:spPr>
          <a:xfrm>
            <a:off x="7428515" y="572847"/>
            <a:ext cx="12084108" cy="8685453"/>
          </a:xfrm>
          <a:custGeom>
            <a:avLst/>
            <a:gdLst/>
            <a:ahLst/>
            <a:cxnLst/>
            <a:rect l="l" t="t" r="r" b="b"/>
            <a:pathLst>
              <a:path w="12084108" h="8685453">
                <a:moveTo>
                  <a:pt x="0" y="0"/>
                </a:moveTo>
                <a:lnTo>
                  <a:pt x="12084108" y="0"/>
                </a:lnTo>
                <a:lnTo>
                  <a:pt x="12084108" y="8685453"/>
                </a:lnTo>
                <a:lnTo>
                  <a:pt x="0" y="8685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5" name="TextBox 5"/>
          <p:cNvSpPr txBox="1"/>
          <p:nvPr/>
        </p:nvSpPr>
        <p:spPr>
          <a:xfrm>
            <a:off x="685038" y="590903"/>
            <a:ext cx="5107357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Varimax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7157" y="2562899"/>
            <a:ext cx="760631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F1 : Location Quality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7157" y="3654841"/>
            <a:ext cx="760631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F2: Apartment Size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7157" y="5838725"/>
            <a:ext cx="760631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F4: Building Height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7157" y="4746783"/>
            <a:ext cx="760631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F3: Suburbanization Pattern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038" y="7246118"/>
            <a:ext cx="6105678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Factor loading are similar to PC due to high communalities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685038" y="513568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Freeform 4"/>
          <p:cNvSpPr/>
          <p:nvPr/>
        </p:nvSpPr>
        <p:spPr>
          <a:xfrm>
            <a:off x="7428515" y="572847"/>
            <a:ext cx="12084108" cy="8685453"/>
          </a:xfrm>
          <a:custGeom>
            <a:avLst/>
            <a:gdLst/>
            <a:ahLst/>
            <a:cxnLst/>
            <a:rect l="l" t="t" r="r" b="b"/>
            <a:pathLst>
              <a:path w="12084108" h="8685453">
                <a:moveTo>
                  <a:pt x="0" y="0"/>
                </a:moveTo>
                <a:lnTo>
                  <a:pt x="12084108" y="0"/>
                </a:lnTo>
                <a:lnTo>
                  <a:pt x="12084108" y="8685453"/>
                </a:lnTo>
                <a:lnTo>
                  <a:pt x="0" y="8685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5" name="Freeform 5"/>
          <p:cNvSpPr/>
          <p:nvPr/>
        </p:nvSpPr>
        <p:spPr>
          <a:xfrm>
            <a:off x="7428515" y="572847"/>
            <a:ext cx="12084108" cy="8685453"/>
          </a:xfrm>
          <a:custGeom>
            <a:avLst/>
            <a:gdLst/>
            <a:ahLst/>
            <a:cxnLst/>
            <a:rect l="l" t="t" r="r" b="b"/>
            <a:pathLst>
              <a:path w="12084108" h="8685453">
                <a:moveTo>
                  <a:pt x="0" y="0"/>
                </a:moveTo>
                <a:lnTo>
                  <a:pt x="12084108" y="0"/>
                </a:lnTo>
                <a:lnTo>
                  <a:pt x="12084108" y="8685453"/>
                </a:lnTo>
                <a:lnTo>
                  <a:pt x="0" y="8685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6" name="TextBox 6"/>
          <p:cNvSpPr txBox="1"/>
          <p:nvPr/>
        </p:nvSpPr>
        <p:spPr>
          <a:xfrm>
            <a:off x="685038" y="590903"/>
            <a:ext cx="5107357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Promax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7157" y="2562899"/>
            <a:ext cx="760631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F1 : Location Quality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7157" y="3654841"/>
            <a:ext cx="760631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F2: Apartment Size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7157" y="4750216"/>
            <a:ext cx="760631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F3: Building Height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7157" y="5806624"/>
            <a:ext cx="760631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F4: Suburbanization Pattern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038" y="7246118"/>
            <a:ext cx="6105678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loadings are different but the same structure persists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685038" y="513568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Freeform 4"/>
          <p:cNvSpPr/>
          <p:nvPr/>
        </p:nvSpPr>
        <p:spPr>
          <a:xfrm>
            <a:off x="1028700" y="3127187"/>
            <a:ext cx="14397814" cy="6604997"/>
          </a:xfrm>
          <a:custGeom>
            <a:avLst/>
            <a:gdLst/>
            <a:ahLst/>
            <a:cxnLst/>
            <a:rect l="l" t="t" r="r" b="b"/>
            <a:pathLst>
              <a:path w="14397814" h="6604997">
                <a:moveTo>
                  <a:pt x="0" y="0"/>
                </a:moveTo>
                <a:lnTo>
                  <a:pt x="14397814" y="0"/>
                </a:lnTo>
                <a:lnTo>
                  <a:pt x="14397814" y="6604998"/>
                </a:lnTo>
                <a:lnTo>
                  <a:pt x="0" y="6604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5" name="TextBox 5"/>
          <p:cNvSpPr txBox="1"/>
          <p:nvPr/>
        </p:nvSpPr>
        <p:spPr>
          <a:xfrm>
            <a:off x="685038" y="590903"/>
            <a:ext cx="1112569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Communalities (Varimax)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553928"/>
            <a:ext cx="12518917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spaciousness factor is the strongest</a:t>
            </a:r>
          </a:p>
          <a:p>
            <a:pPr algn="l">
              <a:lnSpc>
                <a:spcPts val="60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while floor and build year have high specific variances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TextBox 3"/>
          <p:cNvSpPr txBox="1"/>
          <p:nvPr/>
        </p:nvSpPr>
        <p:spPr>
          <a:xfrm>
            <a:off x="664468" y="3916364"/>
            <a:ext cx="16959064" cy="1835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Discrimination and Classification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grpSp>
        <p:nvGrpSpPr>
          <p:cNvPr id="3" name="Group 3"/>
          <p:cNvGrpSpPr/>
          <p:nvPr/>
        </p:nvGrpSpPr>
        <p:grpSpPr>
          <a:xfrm>
            <a:off x="6630723" y="2630223"/>
            <a:ext cx="5026555" cy="5026555"/>
            <a:chOff x="0" y="0"/>
            <a:chExt cx="4489857" cy="44898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ru-KZ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095047" y="2630223"/>
            <a:ext cx="5026555" cy="5026555"/>
            <a:chOff x="0" y="0"/>
            <a:chExt cx="4489857" cy="448985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ru-KZ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66399" y="2630223"/>
            <a:ext cx="5026555" cy="5026555"/>
            <a:chOff x="0" y="0"/>
            <a:chExt cx="6702073" cy="6702073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702073" cy="6702073"/>
              <a:chOff x="0" y="0"/>
              <a:chExt cx="4489857" cy="448985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489857" cy="4489857"/>
              </a:xfrm>
              <a:custGeom>
                <a:avLst/>
                <a:gdLst/>
                <a:ahLst/>
                <a:cxnLst/>
                <a:rect l="l" t="t" r="r" b="b"/>
                <a:pathLst>
                  <a:path w="4489857" h="4489857">
                    <a:moveTo>
                      <a:pt x="22991" y="0"/>
                    </a:moveTo>
                    <a:lnTo>
                      <a:pt x="4466866" y="0"/>
                    </a:lnTo>
                    <a:cubicBezTo>
                      <a:pt x="4479564" y="0"/>
                      <a:pt x="4489857" y="10293"/>
                      <a:pt x="4489857" y="22991"/>
                    </a:cubicBezTo>
                    <a:lnTo>
                      <a:pt x="4489857" y="4466866"/>
                    </a:lnTo>
                    <a:cubicBezTo>
                      <a:pt x="4489857" y="4479564"/>
                      <a:pt x="4479564" y="4489857"/>
                      <a:pt x="4466866" y="4489857"/>
                    </a:cubicBezTo>
                    <a:lnTo>
                      <a:pt x="22991" y="4489857"/>
                    </a:lnTo>
                    <a:cubicBezTo>
                      <a:pt x="10293" y="4489857"/>
                      <a:pt x="0" y="4479564"/>
                      <a:pt x="0" y="4466866"/>
                    </a:cubicBezTo>
                    <a:lnTo>
                      <a:pt x="0" y="22991"/>
                    </a:lnTo>
                    <a:cubicBezTo>
                      <a:pt x="0" y="10293"/>
                      <a:pt x="10293" y="0"/>
                      <a:pt x="22991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sq">
                <a:solidFill>
                  <a:srgbClr val="000000">
                    <a:alpha val="49804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4489857" cy="4537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99814" y="967602"/>
              <a:ext cx="5702444" cy="4881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000"/>
                </a:lnSpc>
              </a:pPr>
              <a:r>
                <a:rPr lang="en-US" sz="2500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Can we</a:t>
              </a:r>
              <a:r>
                <a:rPr lang="en-US" sz="2500" u="none" strike="noStrike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effectively discriminate between high-priced and low-priced apartments in Poland based on their characteristics?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005583" y="4314825"/>
            <a:ext cx="4276833" cy="1428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99"/>
              </a:lnSpc>
            </a:pPr>
            <a:r>
              <a:rPr lang="en-US" sz="29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Choose the best model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69907" y="4505325"/>
            <a:ext cx="4276833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9"/>
              </a:lnSpc>
            </a:pPr>
            <a:r>
              <a:rPr lang="en-US" sz="29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Top</a:t>
            </a:r>
            <a:r>
              <a:rPr lang="en-US" sz="2999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Discriminating Features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1028700" y="419908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Freeform 4"/>
          <p:cNvSpPr/>
          <p:nvPr/>
        </p:nvSpPr>
        <p:spPr>
          <a:xfrm>
            <a:off x="1028700" y="1883459"/>
            <a:ext cx="10049078" cy="8403541"/>
          </a:xfrm>
          <a:custGeom>
            <a:avLst/>
            <a:gdLst/>
            <a:ahLst/>
            <a:cxnLst/>
            <a:rect l="l" t="t" r="r" b="b"/>
            <a:pathLst>
              <a:path w="10049078" h="8403541">
                <a:moveTo>
                  <a:pt x="0" y="0"/>
                </a:moveTo>
                <a:lnTo>
                  <a:pt x="10049078" y="0"/>
                </a:lnTo>
                <a:lnTo>
                  <a:pt x="10049078" y="8403541"/>
                </a:lnTo>
                <a:lnTo>
                  <a:pt x="0" y="84035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5" name="TextBox 5"/>
          <p:cNvSpPr txBox="1"/>
          <p:nvPr/>
        </p:nvSpPr>
        <p:spPr>
          <a:xfrm>
            <a:off x="1028700" y="569643"/>
            <a:ext cx="6226738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LDA VS QDA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11475" y="3294228"/>
            <a:ext cx="5747825" cy="66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l">
              <a:lnSpc>
                <a:spcPts val="5599"/>
              </a:lnSpc>
              <a:buFont typeface="Arial"/>
              <a:buChar char="•"/>
            </a:pPr>
            <a:r>
              <a:rPr lang="en-US" sz="3499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LDA outperforms QDA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11475" y="5010150"/>
            <a:ext cx="5747825" cy="2774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l">
              <a:lnSpc>
                <a:spcPts val="55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Equal covariance assumption is reasonably satisfied for most features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1028700" y="700889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Freeform 4"/>
          <p:cNvSpPr/>
          <p:nvPr/>
        </p:nvSpPr>
        <p:spPr>
          <a:xfrm>
            <a:off x="218541" y="1999615"/>
            <a:ext cx="12304092" cy="8151461"/>
          </a:xfrm>
          <a:custGeom>
            <a:avLst/>
            <a:gdLst/>
            <a:ahLst/>
            <a:cxnLst/>
            <a:rect l="l" t="t" r="r" b="b"/>
            <a:pathLst>
              <a:path w="12304092" h="8151461">
                <a:moveTo>
                  <a:pt x="0" y="0"/>
                </a:moveTo>
                <a:lnTo>
                  <a:pt x="12304091" y="0"/>
                </a:lnTo>
                <a:lnTo>
                  <a:pt x="12304091" y="8151461"/>
                </a:lnTo>
                <a:lnTo>
                  <a:pt x="0" y="81514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5" name="TextBox 5"/>
          <p:cNvSpPr txBox="1"/>
          <p:nvPr/>
        </p:nvSpPr>
        <p:spPr>
          <a:xfrm>
            <a:off x="1028700" y="769544"/>
            <a:ext cx="868595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Classification rule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22632" y="3210835"/>
            <a:ext cx="5747825" cy="53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Two classes: High=0, Low=1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40175" y="4385194"/>
            <a:ext cx="5747825" cy="2753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ctr">
              <a:lnSpc>
                <a:spcPts val="55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Classification rule in this space: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If x &lt; 0 → Classify as High Price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If x ≥ 0 → Classify as Low Price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1166399" y="567007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Box 4"/>
          <p:cNvSpPr txBox="1"/>
          <p:nvPr/>
        </p:nvSpPr>
        <p:spPr>
          <a:xfrm>
            <a:off x="1166399" y="756743"/>
            <a:ext cx="1067560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Top Discriminating Features</a:t>
            </a:r>
          </a:p>
        </p:txBody>
      </p:sp>
      <p:sp>
        <p:nvSpPr>
          <p:cNvPr id="5" name="Freeform 5"/>
          <p:cNvSpPr/>
          <p:nvPr/>
        </p:nvSpPr>
        <p:spPr>
          <a:xfrm>
            <a:off x="3028192" y="2029657"/>
            <a:ext cx="12231616" cy="8103445"/>
          </a:xfrm>
          <a:custGeom>
            <a:avLst/>
            <a:gdLst/>
            <a:ahLst/>
            <a:cxnLst/>
            <a:rect l="l" t="t" r="r" b="b"/>
            <a:pathLst>
              <a:path w="12231616" h="8103445">
                <a:moveTo>
                  <a:pt x="0" y="0"/>
                </a:moveTo>
                <a:lnTo>
                  <a:pt x="12231616" y="0"/>
                </a:lnTo>
                <a:lnTo>
                  <a:pt x="12231616" y="8103445"/>
                </a:lnTo>
                <a:lnTo>
                  <a:pt x="0" y="810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TextBox 3"/>
          <p:cNvSpPr txBox="1"/>
          <p:nvPr/>
        </p:nvSpPr>
        <p:spPr>
          <a:xfrm>
            <a:off x="664468" y="3916364"/>
            <a:ext cx="16959064" cy="1835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Clustering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grpSp>
        <p:nvGrpSpPr>
          <p:cNvPr id="3" name="Group 3"/>
          <p:cNvGrpSpPr/>
          <p:nvPr/>
        </p:nvGrpSpPr>
        <p:grpSpPr>
          <a:xfrm>
            <a:off x="1166399" y="3813162"/>
            <a:ext cx="14716250" cy="909958"/>
            <a:chOff x="0" y="0"/>
            <a:chExt cx="19621666" cy="1213278"/>
          </a:xfrm>
        </p:grpSpPr>
        <p:sp>
          <p:nvSpPr>
            <p:cNvPr id="4" name="TextBox 4"/>
            <p:cNvSpPr txBox="1"/>
            <p:nvPr/>
          </p:nvSpPr>
          <p:spPr>
            <a:xfrm>
              <a:off x="1855086" y="224355"/>
              <a:ext cx="17766580" cy="673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Selected variables (physical characteristics, location attributes, and pricing)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1213278" cy="1213278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6557" y="172087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66399" y="5817838"/>
            <a:ext cx="13285003" cy="909958"/>
            <a:chOff x="0" y="0"/>
            <a:chExt cx="17713337" cy="1213278"/>
          </a:xfrm>
        </p:grpSpPr>
        <p:sp>
          <p:nvSpPr>
            <p:cNvPr id="10" name="TextBox 10"/>
            <p:cNvSpPr txBox="1"/>
            <p:nvPr/>
          </p:nvSpPr>
          <p:spPr>
            <a:xfrm>
              <a:off x="1855086" y="224355"/>
              <a:ext cx="15858251" cy="673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Removed 256 </a:t>
              </a:r>
              <a:r>
                <a:rPr lang="en-US" sz="2799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outliers (1.2%) with extreme distance values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0" y="0"/>
              <a:ext cx="1213278" cy="1213278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49257" y="172087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66399" y="7823804"/>
            <a:ext cx="14947096" cy="909958"/>
            <a:chOff x="0" y="0"/>
            <a:chExt cx="19929461" cy="1213278"/>
          </a:xfrm>
        </p:grpSpPr>
        <p:sp>
          <p:nvSpPr>
            <p:cNvPr id="16" name="TextBox 16"/>
            <p:cNvSpPr txBox="1"/>
            <p:nvPr/>
          </p:nvSpPr>
          <p:spPr>
            <a:xfrm>
              <a:off x="1855086" y="224355"/>
              <a:ext cx="18074375" cy="673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Clus</a:t>
              </a:r>
              <a:r>
                <a:rPr lang="en-US" sz="2799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tered 21,245 apartments in k groups determined by silhouette analysis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0" y="0"/>
              <a:ext cx="1213278" cy="1213278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6557" y="172087"/>
              <a:ext cx="1089364" cy="770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0"/>
                </a:lnSpc>
              </a:pPr>
              <a:r>
                <a:rPr lang="en-US" sz="32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66399" y="800087"/>
            <a:ext cx="13754468" cy="1917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Can we identify distinct market segments of apartments in the Polish real estate market?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166399" y="628566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1028700" y="782464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Freeform 4"/>
          <p:cNvSpPr/>
          <p:nvPr/>
        </p:nvSpPr>
        <p:spPr>
          <a:xfrm>
            <a:off x="562462" y="2950597"/>
            <a:ext cx="17163076" cy="6007077"/>
          </a:xfrm>
          <a:custGeom>
            <a:avLst/>
            <a:gdLst/>
            <a:ahLst/>
            <a:cxnLst/>
            <a:rect l="l" t="t" r="r" b="b"/>
            <a:pathLst>
              <a:path w="17163076" h="6007077">
                <a:moveTo>
                  <a:pt x="0" y="0"/>
                </a:moveTo>
                <a:lnTo>
                  <a:pt x="17163076" y="0"/>
                </a:lnTo>
                <a:lnTo>
                  <a:pt x="17163076" y="6007077"/>
                </a:lnTo>
                <a:lnTo>
                  <a:pt x="0" y="60070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5" name="TextBox 5"/>
          <p:cNvSpPr txBox="1"/>
          <p:nvPr/>
        </p:nvSpPr>
        <p:spPr>
          <a:xfrm>
            <a:off x="1028700" y="914400"/>
            <a:ext cx="14580228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Determining optimal number of clusters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142345" y="8208645"/>
            <a:ext cx="395288" cy="430530"/>
            <a:chOff x="0" y="0"/>
            <a:chExt cx="527050" cy="574040"/>
          </a:xfrm>
        </p:grpSpPr>
        <p:sp>
          <p:nvSpPr>
            <p:cNvPr id="7" name="Freeform 7"/>
            <p:cNvSpPr/>
            <p:nvPr/>
          </p:nvSpPr>
          <p:spPr>
            <a:xfrm>
              <a:off x="17498" y="50800"/>
              <a:ext cx="494518" cy="521168"/>
            </a:xfrm>
            <a:custGeom>
              <a:avLst/>
              <a:gdLst/>
              <a:ahLst/>
              <a:cxnLst/>
              <a:rect l="l" t="t" r="r" b="b"/>
              <a:pathLst>
                <a:path w="494518" h="521168">
                  <a:moveTo>
                    <a:pt x="33302" y="0"/>
                  </a:moveTo>
                  <a:cubicBezTo>
                    <a:pt x="532412" y="91440"/>
                    <a:pt x="533682" y="398780"/>
                    <a:pt x="458752" y="471170"/>
                  </a:cubicBezTo>
                  <a:cubicBezTo>
                    <a:pt x="386362" y="542290"/>
                    <a:pt x="105692" y="535940"/>
                    <a:pt x="33302" y="462280"/>
                  </a:cubicBezTo>
                  <a:cubicBezTo>
                    <a:pt x="-41628" y="384810"/>
                    <a:pt x="33302" y="0"/>
                    <a:pt x="33302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ru-KZ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1028700" y="751684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Freeform 4"/>
          <p:cNvSpPr/>
          <p:nvPr/>
        </p:nvSpPr>
        <p:spPr>
          <a:xfrm>
            <a:off x="1028700" y="2064934"/>
            <a:ext cx="13160897" cy="7995245"/>
          </a:xfrm>
          <a:custGeom>
            <a:avLst/>
            <a:gdLst/>
            <a:ahLst/>
            <a:cxnLst/>
            <a:rect l="l" t="t" r="r" b="b"/>
            <a:pathLst>
              <a:path w="13160897" h="7995245">
                <a:moveTo>
                  <a:pt x="0" y="0"/>
                </a:moveTo>
                <a:lnTo>
                  <a:pt x="13160897" y="0"/>
                </a:lnTo>
                <a:lnTo>
                  <a:pt x="13160897" y="7995245"/>
                </a:lnTo>
                <a:lnTo>
                  <a:pt x="0" y="7995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5" name="TextBox 5"/>
          <p:cNvSpPr txBox="1"/>
          <p:nvPr/>
        </p:nvSpPr>
        <p:spPr>
          <a:xfrm>
            <a:off x="1028700" y="914400"/>
            <a:ext cx="6454437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Cluster Profiling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166399" y="2604790"/>
          <a:ext cx="13251425" cy="4454626"/>
        </p:xfrm>
        <a:graphic>
          <a:graphicData uri="http://schemas.openxmlformats.org/drawingml/2006/table">
            <a:tbl>
              <a:tblPr/>
              <a:tblGrid>
                <a:gridCol w="1540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7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1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0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53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72883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Cluster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Avg 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Avg Size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Segment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Avg Build 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2883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20.0%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1,363,809 PLN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85.0 m²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Premium/Luxury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1981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2883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16.8%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789,198 PLN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58.3 m²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Modern Suburban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2008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883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63.3%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663,978 PLN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47.6 m²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Standard Urban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1984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166399" y="1233825"/>
            <a:ext cx="10399168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Key findings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097287"/>
            <a:ext cx="17030700" cy="67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lnSpc>
                <a:spcPts val="6000"/>
              </a:lnSpc>
              <a:buFont typeface="Arial"/>
              <a:buChar char="•"/>
            </a:pPr>
            <a:r>
              <a:rPr lang="en-US" sz="2400" spc="24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Cluster 1 (Suburban): Newest construction, farthest from all amenities, lowest POI count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241073"/>
            <a:ext cx="16268700" cy="67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lnSpc>
                <a:spcPts val="6000"/>
              </a:lnSpc>
              <a:buFont typeface="Arial"/>
              <a:buChar char="•"/>
            </a:pPr>
            <a:r>
              <a:rPr lang="en-US" sz="2400" spc="24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Cluster 0 (Premium): Largest apartments, highest price &amp; price/m², central locations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948822"/>
            <a:ext cx="16192500" cy="67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lnSpc>
                <a:spcPts val="6000"/>
              </a:lnSpc>
              <a:buFont typeface="Arial"/>
              <a:buChar char="•"/>
            </a:pPr>
            <a:r>
              <a:rPr lang="en-US" sz="2400" spc="24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Cluster 2 (Standard): Smallest, most affordable, best access to urban amenities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Box 4"/>
          <p:cNvSpPr txBox="1"/>
          <p:nvPr/>
        </p:nvSpPr>
        <p:spPr>
          <a:xfrm>
            <a:off x="1166399" y="1233825"/>
            <a:ext cx="10399168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2068" y="3483734"/>
            <a:ext cx="17405932" cy="684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Market Drivers:</a:t>
            </a: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Through PCA and Factor Analysis, we reduced complex data into 4 key dimensions that define the market: Location Quality (infrastructure access), Apartment Size, Building Height, and Suburbanization Patterns.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Valuation Factors:</a:t>
            </a: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The Hybrid PCR Model proved highly effective, explaining 83.1% of price variance. The most critical discriminators between high-end and low-end properties are size, distance to the center, and proximity to restaurants.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"Amenity Premium": </a:t>
            </a: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Modern amenities significantly impact valuation. Features like security and elevators command price premiums of 21-23%, whereas storage rooms are associated with lower-value, older stock.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Market Segmentation:</a:t>
            </a: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Clustering identified three natural market segments: Standard Urban (63%), Modern Suburban (17%), Premium/Luxury (20%)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Regional Disparities:</a:t>
            </a: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There are statistically significant differences between major metropolises, with Warsaw standing out as a distinct market characterized by significantly higher prices and taller vertical development compared to Kraków or Wrocław.</a:t>
            </a:r>
          </a:p>
          <a:p>
            <a:pPr algn="l">
              <a:lnSpc>
                <a:spcPts val="3600"/>
              </a:lnSpc>
            </a:pPr>
            <a:endParaRPr lang="en-US" sz="2400" spc="24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97549" y="2449319"/>
            <a:ext cx="1609290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Our multivariate analysis of the Polish real estate market (15 cities, ~21k observations) reveals a highly structured market driven by four distinct latent forces.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ru-KZ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Box 3"/>
          <p:cNvSpPr txBox="1"/>
          <p:nvPr/>
        </p:nvSpPr>
        <p:spPr>
          <a:xfrm>
            <a:off x="1028700" y="2935354"/>
            <a:ext cx="15639110" cy="559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Johnson, R. A., &amp; Wichern, D. W. (2007). Applied Multivariate Statistical Analysis (6th ed.). Pearson Education Press. ISBN: </a:t>
            </a:r>
            <a:r>
              <a:rPr lang="en-US" sz="2799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3" tooltip="tel:1-292-02494-1"/>
              </a:rPr>
              <a:t>1-292-02494-1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</a:p>
          <a:p>
            <a:pPr algn="l">
              <a:lnSpc>
                <a:spcPts val="4479"/>
              </a:lnSpc>
            </a:pPr>
            <a:endParaRPr lang="en-US" sz="27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Rencher, A. C., &amp; Christensen, W. F. (2012). Methods of Multivariate Analysis (3rd ed.). Wiley. ISBN: 978-0-470-17896-6.</a:t>
            </a:r>
          </a:p>
          <a:p>
            <a:pPr algn="l">
              <a:lnSpc>
                <a:spcPts val="4479"/>
              </a:lnSpc>
            </a:pPr>
            <a:endParaRPr lang="en-US" sz="27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Dataset (Source): 3. Jamroz, K. (2024). Apartment Prices in Poland: Pricing of apartments in 15 largest polish cities [Data set]. Kaggle. Retrieved from </a:t>
            </a:r>
            <a:r>
              <a:rPr lang="en-US" sz="2799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www.kaggle.com/datasets/krzysztofjamroz/apartment-prices-in-poland"/>
              </a:rPr>
              <a:t>https://www.kaggle.com/datasets/krzysztofjamroz/apartment-prices-in-poland</a:t>
            </a:r>
          </a:p>
          <a:p>
            <a:pPr algn="l">
              <a:lnSpc>
                <a:spcPts val="4479"/>
              </a:lnSpc>
            </a:pPr>
            <a:endParaRPr lang="en-US" sz="2799" u="sng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  <a:hlinkClick r:id="rId4" tooltip="https://www.kaggle.com/datasets/krzysztofjamroz/apartment-prices-in-polan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66399" y="1233825"/>
            <a:ext cx="544623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References</a:t>
            </a:r>
          </a:p>
        </p:txBody>
      </p:sp>
      <p:sp>
        <p:nvSpPr>
          <p:cNvPr id="5" name="AutoShape 5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1577</Words>
  <Application>Microsoft Office PowerPoint</Application>
  <PresentationFormat>Произвольный</PresentationFormat>
  <Paragraphs>262</Paragraphs>
  <Slides>47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5" baseType="lpstr">
      <vt:lpstr>Open Sauce</vt:lpstr>
      <vt:lpstr>Canva Sans Bold</vt:lpstr>
      <vt:lpstr>Open Sauce Bold</vt:lpstr>
      <vt:lpstr>Calibri</vt:lpstr>
      <vt:lpstr>Arial</vt:lpstr>
      <vt:lpstr>Aptos</vt:lpstr>
      <vt:lpstr>DM Serif Display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Tamerlan Assylkhan</dc:title>
  <cp:lastModifiedBy>Tamerlan Assylkhan</cp:lastModifiedBy>
  <cp:revision>2</cp:revision>
  <dcterms:created xsi:type="dcterms:W3CDTF">2006-08-16T00:00:00Z</dcterms:created>
  <dcterms:modified xsi:type="dcterms:W3CDTF">2026-01-18T18:23:08Z</dcterms:modified>
  <dc:identifier>DAG-DFwWLwE</dc:identifier>
</cp:coreProperties>
</file>